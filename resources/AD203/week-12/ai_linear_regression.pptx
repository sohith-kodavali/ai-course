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5765800" cy="3244850"/>
  <p:notesSz cx="5765800" cy="3244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03505">
              <a:lnSpc>
                <a:spcPts val="675"/>
              </a:lnSpc>
            </a:pPr>
            <a:fld id="{81D60167-4931-47E6-BA6A-407CBD079E47}" type="slidenum">
              <a:rPr dirty="0" spc="-10"/>
              <a:t>#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03505">
              <a:lnSpc>
                <a:spcPts val="675"/>
              </a:lnSpc>
            </a:pPr>
            <a:fld id="{81D60167-4931-47E6-BA6A-407CBD079E47}" type="slidenum">
              <a:rPr dirty="0" spc="-10"/>
              <a:t>#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03505">
              <a:lnSpc>
                <a:spcPts val="675"/>
              </a:lnSpc>
            </a:pPr>
            <a:fld id="{81D60167-4931-47E6-BA6A-407CBD079E47}" type="slidenum">
              <a:rPr dirty="0" spc="-10"/>
              <a:t>#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03505">
              <a:lnSpc>
                <a:spcPts val="675"/>
              </a:lnSpc>
            </a:pPr>
            <a:fld id="{81D60167-4931-47E6-BA6A-407CBD079E47}" type="slidenum">
              <a:rPr dirty="0" spc="-10"/>
              <a:t>#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7743" y="637501"/>
            <a:ext cx="5584825" cy="82550"/>
          </a:xfrm>
          <a:custGeom>
            <a:avLst/>
            <a:gdLst/>
            <a:ahLst/>
            <a:cxnLst/>
            <a:rect l="l" t="t" r="r" b="b"/>
            <a:pathLst>
              <a:path w="5584825" h="82550">
                <a:moveTo>
                  <a:pt x="553377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5584580" y="82384"/>
                </a:lnTo>
                <a:lnTo>
                  <a:pt x="5584580" y="50800"/>
                </a:lnTo>
                <a:lnTo>
                  <a:pt x="5580571" y="31075"/>
                </a:lnTo>
                <a:lnTo>
                  <a:pt x="5569657" y="14922"/>
                </a:lnTo>
                <a:lnTo>
                  <a:pt x="5553504" y="4008"/>
                </a:lnTo>
                <a:lnTo>
                  <a:pt x="553377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38544" y="700759"/>
            <a:ext cx="5584825" cy="674370"/>
          </a:xfrm>
          <a:custGeom>
            <a:avLst/>
            <a:gdLst/>
            <a:ahLst/>
            <a:cxnLst/>
            <a:rect l="l" t="t" r="r" b="b"/>
            <a:pathLst>
              <a:path w="5584825" h="674369">
                <a:moveTo>
                  <a:pt x="5584580" y="0"/>
                </a:moveTo>
                <a:lnTo>
                  <a:pt x="0" y="0"/>
                </a:lnTo>
                <a:lnTo>
                  <a:pt x="0" y="674283"/>
                </a:lnTo>
                <a:lnTo>
                  <a:pt x="5584580" y="674283"/>
                </a:lnTo>
                <a:lnTo>
                  <a:pt x="55845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87743" y="681922"/>
            <a:ext cx="5584825" cy="642620"/>
          </a:xfrm>
          <a:custGeom>
            <a:avLst/>
            <a:gdLst/>
            <a:ahLst/>
            <a:cxnLst/>
            <a:rect l="l" t="t" r="r" b="b"/>
            <a:pathLst>
              <a:path w="5584825" h="642619">
                <a:moveTo>
                  <a:pt x="5584580" y="0"/>
                </a:moveTo>
                <a:lnTo>
                  <a:pt x="0" y="0"/>
                </a:lnTo>
                <a:lnTo>
                  <a:pt x="0" y="591519"/>
                </a:lnTo>
                <a:lnTo>
                  <a:pt x="4008" y="611243"/>
                </a:lnTo>
                <a:lnTo>
                  <a:pt x="14922" y="627396"/>
                </a:lnTo>
                <a:lnTo>
                  <a:pt x="31075" y="638310"/>
                </a:lnTo>
                <a:lnTo>
                  <a:pt x="50800" y="642319"/>
                </a:lnTo>
                <a:lnTo>
                  <a:pt x="5533779" y="642319"/>
                </a:lnTo>
                <a:lnTo>
                  <a:pt x="5553504" y="638310"/>
                </a:lnTo>
                <a:lnTo>
                  <a:pt x="5569657" y="627396"/>
                </a:lnTo>
                <a:lnTo>
                  <a:pt x="5580571" y="611243"/>
                </a:lnTo>
                <a:lnTo>
                  <a:pt x="5584580" y="591519"/>
                </a:lnTo>
                <a:lnTo>
                  <a:pt x="5584580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03505">
              <a:lnSpc>
                <a:spcPts val="675"/>
              </a:lnSpc>
            </a:pPr>
            <a:fld id="{81D60167-4931-47E6-BA6A-407CBD079E47}" type="slidenum">
              <a:rPr dirty="0" spc="-10"/>
              <a:t>#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12"/>
            <a:ext cx="5760085" cy="350520"/>
          </a:xfrm>
          <a:custGeom>
            <a:avLst/>
            <a:gdLst/>
            <a:ahLst/>
            <a:cxnLst/>
            <a:rect l="l" t="t" r="r" b="b"/>
            <a:pathLst>
              <a:path w="5760085" h="350520">
                <a:moveTo>
                  <a:pt x="5759996" y="0"/>
                </a:moveTo>
                <a:lnTo>
                  <a:pt x="0" y="0"/>
                </a:lnTo>
                <a:lnTo>
                  <a:pt x="0" y="350126"/>
                </a:lnTo>
                <a:lnTo>
                  <a:pt x="5759996" y="350126"/>
                </a:lnTo>
                <a:lnTo>
                  <a:pt x="575999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59877"/>
            <a:ext cx="371475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29057" y="779538"/>
            <a:ext cx="5302250" cy="9055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387289" y="3125241"/>
            <a:ext cx="41943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03505">
              <a:lnSpc>
                <a:spcPts val="675"/>
              </a:lnSpc>
            </a:pPr>
            <a:fld id="{81D60167-4931-47E6-BA6A-407CBD079E47}" type="slidenum">
              <a:rPr dirty="0" spc="-10"/>
              <a:t>#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25"/>
              <a:t>18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7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7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7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12.png"/><Relationship Id="rId6" Type="http://schemas.openxmlformats.org/officeDocument/2006/relationships/image" Target="../media/image16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12.png"/><Relationship Id="rId6" Type="http://schemas.openxmlformats.org/officeDocument/2006/relationships/image" Target="../media/image7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12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8544" y="700759"/>
            <a:ext cx="5584825" cy="674370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algn="ctr" marR="93980">
              <a:lnSpc>
                <a:spcPct val="100000"/>
              </a:lnSpc>
              <a:spcBef>
                <a:spcPts val="445"/>
              </a:spcBef>
            </a:pPr>
            <a:r>
              <a:rPr dirty="0" sz="1400" spc="-40">
                <a:solidFill>
                  <a:srgbClr val="FFFFFF"/>
                </a:solidFill>
                <a:latin typeface="Tahoma"/>
                <a:cs typeface="Tahoma"/>
              </a:rPr>
              <a:t>Learning</a:t>
            </a:r>
            <a:r>
              <a:rPr dirty="0" sz="1400" spc="-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Tahoma"/>
                <a:cs typeface="Tahoma"/>
              </a:rPr>
              <a:t>from</a:t>
            </a:r>
            <a:r>
              <a:rPr dirty="0" sz="1400" spc="-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ahoma"/>
                <a:cs typeface="Tahoma"/>
              </a:rPr>
              <a:t>Examples</a:t>
            </a:r>
            <a:endParaRPr sz="1400">
              <a:latin typeface="Tahoma"/>
              <a:cs typeface="Tahoma"/>
            </a:endParaRPr>
          </a:p>
          <a:p>
            <a:pPr algn="ctr" marR="92710">
              <a:lnSpc>
                <a:spcPct val="100000"/>
              </a:lnSpc>
              <a:spcBef>
                <a:spcPts val="325"/>
              </a:spcBef>
            </a:pPr>
            <a:r>
              <a:rPr dirty="0" sz="1100" spc="-25">
                <a:solidFill>
                  <a:srgbClr val="FFFFFF"/>
                </a:solidFill>
                <a:latin typeface="Tahoma"/>
                <a:cs typeface="Tahoma"/>
              </a:rPr>
              <a:t>Linear</a:t>
            </a:r>
            <a:r>
              <a:rPr dirty="0" sz="1100" spc="-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 spc="-50">
                <a:solidFill>
                  <a:srgbClr val="FFFFFF"/>
                </a:solidFill>
                <a:latin typeface="Tahoma"/>
                <a:cs typeface="Tahoma"/>
              </a:rPr>
              <a:t>Regression,</a:t>
            </a:r>
            <a:r>
              <a:rPr dirty="0" sz="1100" spc="-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Tahoma"/>
                <a:cs typeface="Tahoma"/>
              </a:rPr>
              <a:t>Logistic</a:t>
            </a:r>
            <a:r>
              <a:rPr dirty="0" sz="1100" spc="-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 spc="-50">
                <a:solidFill>
                  <a:srgbClr val="FFFFFF"/>
                </a:solidFill>
                <a:latin typeface="Tahoma"/>
                <a:cs typeface="Tahoma"/>
              </a:rPr>
              <a:t>Regression,</a:t>
            </a:r>
            <a:r>
              <a:rPr dirty="0" sz="1100" spc="-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 spc="-35">
                <a:solidFill>
                  <a:srgbClr val="FFFFFF"/>
                </a:solidFill>
                <a:latin typeface="Tahoma"/>
                <a:cs typeface="Tahoma"/>
              </a:rPr>
              <a:t>and </a:t>
            </a:r>
            <a:r>
              <a:rPr dirty="0" sz="1100" spc="-1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dirty="0" sz="1100" spc="-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Tahoma"/>
                <a:cs typeface="Tahoma"/>
              </a:rPr>
              <a:t>Road</a:t>
            </a:r>
            <a:r>
              <a:rPr dirty="0" sz="1100" spc="-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dirty="0" sz="1100" spc="-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Tahoma"/>
                <a:cs typeface="Tahoma"/>
              </a:rPr>
              <a:t>Neural</a:t>
            </a:r>
            <a:r>
              <a:rPr dirty="0" sz="1100" spc="-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Tahoma"/>
                <a:cs typeface="Tahoma"/>
              </a:rPr>
              <a:t>Networks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38260" y="1534323"/>
            <a:ext cx="12839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AI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–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2nd </a:t>
            </a:r>
            <a:r>
              <a:rPr dirty="0" sz="1100" spc="-45">
                <a:latin typeface="Tahoma"/>
                <a:cs typeface="Tahoma"/>
              </a:rPr>
              <a:t>Year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B.Tech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0813" y="2460992"/>
            <a:ext cx="42183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0" b="1">
                <a:latin typeface="Gill Sans MT"/>
                <a:cs typeface="Gill Sans MT"/>
              </a:rPr>
              <a:t>Today’s</a:t>
            </a:r>
            <a:r>
              <a:rPr dirty="0" sz="1100" spc="10" b="1">
                <a:latin typeface="Gill Sans MT"/>
                <a:cs typeface="Gill Sans MT"/>
              </a:rPr>
              <a:t> </a:t>
            </a:r>
            <a:r>
              <a:rPr dirty="0" sz="1100" b="1">
                <a:latin typeface="Gill Sans MT"/>
                <a:cs typeface="Gill Sans MT"/>
              </a:rPr>
              <a:t>big</a:t>
            </a:r>
            <a:r>
              <a:rPr dirty="0" sz="1100" spc="20" b="1">
                <a:latin typeface="Gill Sans MT"/>
                <a:cs typeface="Gill Sans MT"/>
              </a:rPr>
              <a:t> </a:t>
            </a:r>
            <a:r>
              <a:rPr dirty="0" sz="1100" spc="-10" b="1">
                <a:latin typeface="Gill Sans MT"/>
                <a:cs typeface="Gill Sans MT"/>
              </a:rPr>
              <a:t>question:</a:t>
            </a:r>
            <a:r>
              <a:rPr dirty="0" sz="1100" spc="85" b="1">
                <a:latin typeface="Gill Sans MT"/>
                <a:cs typeface="Gill Sans MT"/>
              </a:rPr>
              <a:t> </a:t>
            </a:r>
            <a:r>
              <a:rPr dirty="0" sz="1100" spc="-20">
                <a:latin typeface="Tahoma"/>
                <a:cs typeface="Tahoma"/>
              </a:rPr>
              <a:t>How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can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machine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learn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rule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from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examples?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3505">
              <a:lnSpc>
                <a:spcPts val="675"/>
              </a:lnSpc>
            </a:pPr>
            <a:fld id="{81D60167-4931-47E6-BA6A-407CBD079E47}" type="slidenum">
              <a:rPr dirty="0" spc="-10"/>
              <a:t>1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65"/>
              <a:t>Warm-</a:t>
            </a:r>
            <a:r>
              <a:rPr dirty="0"/>
              <a:t>up:</a:t>
            </a:r>
            <a:r>
              <a:rPr dirty="0" spc="15"/>
              <a:t> </a:t>
            </a:r>
            <a:r>
              <a:rPr dirty="0"/>
              <a:t>Can</a:t>
            </a:r>
            <a:r>
              <a:rPr dirty="0" spc="-50"/>
              <a:t> </a:t>
            </a:r>
            <a:r>
              <a:rPr dirty="0" spc="-114"/>
              <a:t>we</a:t>
            </a:r>
            <a:r>
              <a:rPr dirty="0" spc="5"/>
              <a:t> </a:t>
            </a:r>
            <a:r>
              <a:rPr dirty="0" spc="-25"/>
              <a:t>predict</a:t>
            </a:r>
            <a:r>
              <a:rPr dirty="0" spc="-50"/>
              <a:t> </a:t>
            </a:r>
            <a:r>
              <a:rPr dirty="0" spc="-20"/>
              <a:t>from</a:t>
            </a:r>
            <a:r>
              <a:rPr dirty="0" spc="-55"/>
              <a:t> </a:t>
            </a:r>
            <a:r>
              <a:rPr dirty="0" spc="-50"/>
              <a:t>examples?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439088"/>
            <a:ext cx="3491229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5">
                <a:latin typeface="Tahoma"/>
                <a:cs typeface="Tahoma"/>
              </a:rPr>
              <a:t>Suppose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95">
                <a:latin typeface="Tahoma"/>
                <a:cs typeface="Tahoma"/>
              </a:rPr>
              <a:t>we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 spc="-65">
                <a:latin typeface="Tahoma"/>
                <a:cs typeface="Tahoma"/>
              </a:rPr>
              <a:t>observe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students’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study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hours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exam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marks.</a:t>
            </a:r>
            <a:endParaRPr sz="1100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973859" y="749338"/>
          <a:ext cx="1888489" cy="11766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5055"/>
                <a:gridCol w="737234"/>
              </a:tblGrid>
              <a:tr h="2451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1100" spc="-10">
                          <a:latin typeface="Tahoma"/>
                          <a:cs typeface="Tahoma"/>
                        </a:rPr>
                        <a:t>Study</a:t>
                      </a:r>
                      <a:r>
                        <a:rPr dirty="0" sz="1100" spc="-4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00" spc="-50">
                          <a:latin typeface="Tahoma"/>
                          <a:cs typeface="Tahoma"/>
                        </a:rPr>
                        <a:t>hours</a:t>
                      </a:r>
                      <a:r>
                        <a:rPr dirty="0" sz="1100" spc="-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00" spc="-35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1100" spc="-35" i="1">
                          <a:latin typeface="Arial"/>
                          <a:cs typeface="Arial"/>
                        </a:rPr>
                        <a:t>x</a:t>
                      </a:r>
                      <a:r>
                        <a:rPr dirty="0" sz="1100" spc="-21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50">
                          <a:latin typeface="Tahoma"/>
                          <a:cs typeface="Tahoma"/>
                        </a:rPr>
                        <a:t>)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26034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1100" spc="-10">
                          <a:latin typeface="Tahoma"/>
                          <a:cs typeface="Tahoma"/>
                        </a:rPr>
                        <a:t>Marks</a:t>
                      </a:r>
                      <a:r>
                        <a:rPr dirty="0" sz="1100" spc="-35">
                          <a:latin typeface="Tahoma"/>
                          <a:cs typeface="Tahoma"/>
                        </a:rPr>
                        <a:t> (</a:t>
                      </a:r>
                      <a:r>
                        <a:rPr dirty="0" sz="1100" spc="-35" i="1">
                          <a:latin typeface="Arial"/>
                          <a:cs typeface="Arial"/>
                        </a:rPr>
                        <a:t>y</a:t>
                      </a:r>
                      <a:r>
                        <a:rPr dirty="0" sz="1100" spc="-19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50">
                          <a:latin typeface="Tahoma"/>
                          <a:cs typeface="Tahoma"/>
                        </a:rPr>
                        <a:t>)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26034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462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100" spc="-50">
                          <a:latin typeface="Tahoma"/>
                          <a:cs typeface="Tahoma"/>
                        </a:rPr>
                        <a:t>1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2413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100" spc="-25">
                          <a:latin typeface="Tahoma"/>
                          <a:cs typeface="Tahoma"/>
                        </a:rPr>
                        <a:t>20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2413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dirty="0" sz="1100" spc="-50">
                          <a:latin typeface="Tahoma"/>
                          <a:cs typeface="Tahoma"/>
                        </a:rPr>
                        <a:t>2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dirty="0" sz="1100" spc="-25">
                          <a:latin typeface="Tahoma"/>
                          <a:cs typeface="Tahoma"/>
                        </a:rPr>
                        <a:t>30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</a:tr>
              <a:tr h="171450"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dirty="0" sz="1100" spc="-50">
                          <a:latin typeface="Tahoma"/>
                          <a:cs typeface="Tahoma"/>
                        </a:rPr>
                        <a:t>3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dirty="0" sz="1100" spc="-25">
                          <a:latin typeface="Tahoma"/>
                          <a:cs typeface="Tahoma"/>
                        </a:rPr>
                        <a:t>40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</a:tr>
              <a:tr h="171450"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dirty="0" sz="1100" spc="-50">
                          <a:latin typeface="Tahoma"/>
                          <a:cs typeface="Tahoma"/>
                        </a:rPr>
                        <a:t>4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dirty="0" sz="1100" spc="-25">
                          <a:latin typeface="Tahoma"/>
                          <a:cs typeface="Tahoma"/>
                        </a:rPr>
                        <a:t>50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</a:tr>
              <a:tr h="202565"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dirty="0" sz="1100" spc="-50">
                          <a:latin typeface="Tahoma"/>
                          <a:cs typeface="Tahoma"/>
                        </a:rPr>
                        <a:t>5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dirty="0" sz="1100" spc="-25">
                          <a:latin typeface="Tahoma"/>
                          <a:cs typeface="Tahoma"/>
                        </a:rPr>
                        <a:t>60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87743" y="2149792"/>
            <a:ext cx="5584825" cy="187960"/>
          </a:xfrm>
          <a:custGeom>
            <a:avLst/>
            <a:gdLst/>
            <a:ahLst/>
            <a:cxnLst/>
            <a:rect l="l" t="t" r="r" b="b"/>
            <a:pathLst>
              <a:path w="5584825" h="187960">
                <a:moveTo>
                  <a:pt x="553377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5584580" y="187823"/>
                </a:lnTo>
                <a:lnTo>
                  <a:pt x="5584580" y="50800"/>
                </a:lnTo>
                <a:lnTo>
                  <a:pt x="5580571" y="31075"/>
                </a:lnTo>
                <a:lnTo>
                  <a:pt x="5569657" y="14922"/>
                </a:lnTo>
                <a:lnTo>
                  <a:pt x="5553504" y="4008"/>
                </a:lnTo>
                <a:lnTo>
                  <a:pt x="5533779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38544" y="2178239"/>
            <a:ext cx="361315" cy="1536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45"/>
              </a:lnSpc>
            </a:pPr>
            <a:r>
              <a:rPr dirty="0" sz="1200" spc="-35">
                <a:solidFill>
                  <a:srgbClr val="FFFFFF"/>
                </a:solidFill>
                <a:latin typeface="Tahoma"/>
                <a:cs typeface="Tahoma"/>
              </a:rPr>
              <a:t>Think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7743" y="2206714"/>
            <a:ext cx="5635625" cy="826769"/>
            <a:chOff x="87743" y="2206714"/>
            <a:chExt cx="5635625" cy="826769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2324963"/>
              <a:ext cx="5584580" cy="5060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38544" y="2206714"/>
              <a:ext cx="5584825" cy="826769"/>
            </a:xfrm>
            <a:custGeom>
              <a:avLst/>
              <a:gdLst/>
              <a:ahLst/>
              <a:cxnLst/>
              <a:rect l="l" t="t" r="r" b="b"/>
              <a:pathLst>
                <a:path w="5584825" h="826769">
                  <a:moveTo>
                    <a:pt x="5584580" y="0"/>
                  </a:moveTo>
                  <a:lnTo>
                    <a:pt x="0" y="0"/>
                  </a:lnTo>
                  <a:lnTo>
                    <a:pt x="0" y="826274"/>
                  </a:lnTo>
                  <a:lnTo>
                    <a:pt x="5584580" y="826274"/>
                  </a:lnTo>
                  <a:lnTo>
                    <a:pt x="55845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87743" y="2369233"/>
              <a:ext cx="5584825" cy="613410"/>
            </a:xfrm>
            <a:custGeom>
              <a:avLst/>
              <a:gdLst/>
              <a:ahLst/>
              <a:cxnLst/>
              <a:rect l="l" t="t" r="r" b="b"/>
              <a:pathLst>
                <a:path w="5584825" h="613410">
                  <a:moveTo>
                    <a:pt x="5584580" y="0"/>
                  </a:moveTo>
                  <a:lnTo>
                    <a:pt x="0" y="0"/>
                  </a:lnTo>
                  <a:lnTo>
                    <a:pt x="0" y="562155"/>
                  </a:lnTo>
                  <a:lnTo>
                    <a:pt x="4008" y="581879"/>
                  </a:lnTo>
                  <a:lnTo>
                    <a:pt x="14922" y="598032"/>
                  </a:lnTo>
                  <a:lnTo>
                    <a:pt x="31075" y="608946"/>
                  </a:lnTo>
                  <a:lnTo>
                    <a:pt x="50800" y="612955"/>
                  </a:lnTo>
                  <a:lnTo>
                    <a:pt x="5533779" y="612955"/>
                  </a:lnTo>
                  <a:lnTo>
                    <a:pt x="5553504" y="608946"/>
                  </a:lnTo>
                  <a:lnTo>
                    <a:pt x="5569657" y="598032"/>
                  </a:lnTo>
                  <a:lnTo>
                    <a:pt x="5580571" y="581879"/>
                  </a:lnTo>
                  <a:lnTo>
                    <a:pt x="5584580" y="562155"/>
                  </a:lnTo>
                  <a:lnTo>
                    <a:pt x="5584580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1089" y="2422969"/>
              <a:ext cx="65265" cy="6526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1089" y="2633001"/>
              <a:ext cx="65265" cy="6526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1089" y="2843034"/>
              <a:ext cx="65265" cy="65265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38544" y="2295738"/>
            <a:ext cx="5584825" cy="655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6860" marR="2270125">
              <a:lnSpc>
                <a:spcPct val="125299"/>
              </a:lnSpc>
              <a:spcBef>
                <a:spcPts val="100"/>
              </a:spcBef>
            </a:pPr>
            <a:r>
              <a:rPr dirty="0" sz="1100">
                <a:latin typeface="Tahoma"/>
                <a:cs typeface="Tahoma"/>
              </a:rPr>
              <a:t>What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marks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would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you</a:t>
            </a:r>
            <a:r>
              <a:rPr dirty="0" sz="1100" spc="-30">
                <a:latin typeface="Tahoma"/>
                <a:cs typeface="Tahoma"/>
              </a:rPr>
              <a:t> predict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for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6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hours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study? </a:t>
            </a:r>
            <a:r>
              <a:rPr dirty="0" sz="1100">
                <a:latin typeface="Tahoma"/>
                <a:cs typeface="Tahoma"/>
              </a:rPr>
              <a:t>What</a:t>
            </a:r>
            <a:r>
              <a:rPr dirty="0" sz="1100" spc="-7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rule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did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you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use?</a:t>
            </a:r>
            <a:endParaRPr sz="1100">
              <a:latin typeface="Tahoma"/>
              <a:cs typeface="Tahoma"/>
            </a:endParaRPr>
          </a:p>
          <a:p>
            <a:pPr marL="276860">
              <a:lnSpc>
                <a:spcPct val="100000"/>
              </a:lnSpc>
              <a:spcBef>
                <a:spcPts val="335"/>
              </a:spcBef>
            </a:pPr>
            <a:r>
              <a:rPr dirty="0" sz="1100">
                <a:latin typeface="Tahoma"/>
                <a:cs typeface="Tahoma"/>
              </a:rPr>
              <a:t>Did</a:t>
            </a:r>
            <a:r>
              <a:rPr dirty="0" sz="1100" spc="-9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40">
                <a:latin typeface="Tahoma"/>
                <a:cs typeface="Tahoma"/>
              </a:rPr>
              <a:t> computer </a:t>
            </a:r>
            <a:r>
              <a:rPr dirty="0" sz="1100">
                <a:latin typeface="Tahoma"/>
                <a:cs typeface="Tahoma"/>
              </a:rPr>
              <a:t>tell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us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rule,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or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did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95">
                <a:latin typeface="Tahoma"/>
                <a:cs typeface="Tahoma"/>
              </a:rPr>
              <a:t>we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infer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it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from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examples?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3505">
              <a:lnSpc>
                <a:spcPts val="675"/>
              </a:lnSpc>
            </a:pPr>
            <a:fld id="{81D60167-4931-47E6-BA6A-407CBD079E47}" type="slidenum">
              <a:rPr dirty="0" spc="-10"/>
              <a:t>1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Two</a:t>
            </a:r>
            <a:r>
              <a:rPr dirty="0" spc="-50"/>
              <a:t> </a:t>
            </a:r>
            <a:r>
              <a:rPr dirty="0" spc="-25"/>
              <a:t>kinds</a:t>
            </a:r>
            <a:r>
              <a:rPr dirty="0" spc="-45"/>
              <a:t> </a:t>
            </a:r>
            <a:r>
              <a:rPr dirty="0"/>
              <a:t>of</a:t>
            </a:r>
            <a:r>
              <a:rPr dirty="0" spc="-45"/>
              <a:t> </a:t>
            </a:r>
            <a:r>
              <a:rPr dirty="0" spc="-35"/>
              <a:t>prediction</a:t>
            </a:r>
          </a:p>
        </p:txBody>
      </p:sp>
      <p:sp>
        <p:nvSpPr>
          <p:cNvPr id="3" name="object 3"/>
          <p:cNvSpPr/>
          <p:nvPr/>
        </p:nvSpPr>
        <p:spPr>
          <a:xfrm>
            <a:off x="114680" y="808646"/>
            <a:ext cx="2733675" cy="187960"/>
          </a:xfrm>
          <a:custGeom>
            <a:avLst/>
            <a:gdLst/>
            <a:ahLst/>
            <a:cxnLst/>
            <a:rect l="l" t="t" r="r" b="b"/>
            <a:pathLst>
              <a:path w="2733675" h="187959">
                <a:moveTo>
                  <a:pt x="268260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2733407" y="187823"/>
                </a:lnTo>
                <a:lnTo>
                  <a:pt x="2733407" y="50800"/>
                </a:lnTo>
                <a:lnTo>
                  <a:pt x="2729398" y="31075"/>
                </a:lnTo>
                <a:lnTo>
                  <a:pt x="2718484" y="14922"/>
                </a:lnTo>
                <a:lnTo>
                  <a:pt x="2702331" y="4008"/>
                </a:lnTo>
                <a:lnTo>
                  <a:pt x="2682606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65480" y="837094"/>
            <a:ext cx="1080135" cy="1536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45"/>
              </a:lnSpc>
            </a:pPr>
            <a:r>
              <a:rPr dirty="0" sz="1200" spc="-20">
                <a:solidFill>
                  <a:srgbClr val="FFFFFF"/>
                </a:solidFill>
                <a:latin typeface="Tahoma"/>
                <a:cs typeface="Tahoma"/>
              </a:rPr>
              <a:t>Predict</a:t>
            </a:r>
            <a:r>
              <a:rPr dirty="0" sz="1200" spc="-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dirty="0" sz="1200" spc="-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80">
                <a:solidFill>
                  <a:srgbClr val="FFFFFF"/>
                </a:solidFill>
                <a:latin typeface="Tahoma"/>
                <a:cs typeface="Tahoma"/>
              </a:rPr>
              <a:t>number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14680" y="865566"/>
            <a:ext cx="2784475" cy="1066800"/>
            <a:chOff x="114680" y="865566"/>
            <a:chExt cx="2784475" cy="10668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680" y="983818"/>
              <a:ext cx="2733407" cy="5060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5481" y="865566"/>
              <a:ext cx="2733675" cy="1066800"/>
            </a:xfrm>
            <a:custGeom>
              <a:avLst/>
              <a:gdLst/>
              <a:ahLst/>
              <a:cxnLst/>
              <a:rect l="l" t="t" r="r" b="b"/>
              <a:pathLst>
                <a:path w="2733675" h="1066800">
                  <a:moveTo>
                    <a:pt x="2733407" y="0"/>
                  </a:moveTo>
                  <a:lnTo>
                    <a:pt x="0" y="0"/>
                  </a:lnTo>
                  <a:lnTo>
                    <a:pt x="0" y="1066434"/>
                  </a:lnTo>
                  <a:lnTo>
                    <a:pt x="2733407" y="1066434"/>
                  </a:lnTo>
                  <a:lnTo>
                    <a:pt x="27334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14680" y="1028084"/>
              <a:ext cx="2733675" cy="853440"/>
            </a:xfrm>
            <a:custGeom>
              <a:avLst/>
              <a:gdLst/>
              <a:ahLst/>
              <a:cxnLst/>
              <a:rect l="l" t="t" r="r" b="b"/>
              <a:pathLst>
                <a:path w="2733675" h="853439">
                  <a:moveTo>
                    <a:pt x="2733407" y="0"/>
                  </a:moveTo>
                  <a:lnTo>
                    <a:pt x="0" y="0"/>
                  </a:lnTo>
                  <a:lnTo>
                    <a:pt x="0" y="802315"/>
                  </a:lnTo>
                  <a:lnTo>
                    <a:pt x="4008" y="822039"/>
                  </a:lnTo>
                  <a:lnTo>
                    <a:pt x="14922" y="838192"/>
                  </a:lnTo>
                  <a:lnTo>
                    <a:pt x="31075" y="849107"/>
                  </a:lnTo>
                  <a:lnTo>
                    <a:pt x="50800" y="853115"/>
                  </a:lnTo>
                  <a:lnTo>
                    <a:pt x="2682606" y="853115"/>
                  </a:lnTo>
                  <a:lnTo>
                    <a:pt x="2702331" y="849107"/>
                  </a:lnTo>
                  <a:lnTo>
                    <a:pt x="2718484" y="838192"/>
                  </a:lnTo>
                  <a:lnTo>
                    <a:pt x="2729398" y="822039"/>
                  </a:lnTo>
                  <a:lnTo>
                    <a:pt x="2733407" y="802315"/>
                  </a:lnTo>
                  <a:lnTo>
                    <a:pt x="2733407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/>
          <p:nvPr/>
        </p:nvSpPr>
        <p:spPr>
          <a:xfrm>
            <a:off x="2911944" y="808646"/>
            <a:ext cx="2733675" cy="198755"/>
          </a:xfrm>
          <a:custGeom>
            <a:avLst/>
            <a:gdLst/>
            <a:ahLst/>
            <a:cxnLst/>
            <a:rect l="l" t="t" r="r" b="b"/>
            <a:pathLst>
              <a:path w="2733675" h="198755">
                <a:moveTo>
                  <a:pt x="268260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2733407" y="198367"/>
                </a:lnTo>
                <a:lnTo>
                  <a:pt x="2733407" y="50800"/>
                </a:lnTo>
                <a:lnTo>
                  <a:pt x="2729398" y="31075"/>
                </a:lnTo>
                <a:lnTo>
                  <a:pt x="2718484" y="14922"/>
                </a:lnTo>
                <a:lnTo>
                  <a:pt x="2702331" y="4008"/>
                </a:lnTo>
                <a:lnTo>
                  <a:pt x="2682606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962744" y="837094"/>
            <a:ext cx="1132840" cy="1536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45"/>
              </a:lnSpc>
            </a:pPr>
            <a:r>
              <a:rPr dirty="0" sz="1200" spc="-20">
                <a:solidFill>
                  <a:srgbClr val="FFFFFF"/>
                </a:solidFill>
                <a:latin typeface="Tahoma"/>
                <a:cs typeface="Tahoma"/>
              </a:rPr>
              <a:t>Predict</a:t>
            </a:r>
            <a:r>
              <a:rPr dirty="0" sz="1200" spc="-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dirty="0" sz="1200" spc="-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65">
                <a:solidFill>
                  <a:srgbClr val="FFFFFF"/>
                </a:solidFill>
                <a:latin typeface="Tahoma"/>
                <a:cs typeface="Tahoma"/>
              </a:rPr>
              <a:t>category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5480" y="998371"/>
            <a:ext cx="2733675" cy="852169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R="446405">
              <a:lnSpc>
                <a:spcPct val="102600"/>
              </a:lnSpc>
              <a:spcBef>
                <a:spcPts val="55"/>
              </a:spcBef>
            </a:pPr>
            <a:r>
              <a:rPr dirty="0" sz="1100" spc="-25" b="1">
                <a:latin typeface="Gill Sans MT"/>
                <a:cs typeface="Gill Sans MT"/>
              </a:rPr>
              <a:t>Question:</a:t>
            </a:r>
            <a:r>
              <a:rPr dirty="0" sz="1100" spc="80" b="1">
                <a:latin typeface="Gill Sans MT"/>
                <a:cs typeface="Gill Sans MT"/>
              </a:rPr>
              <a:t> </a:t>
            </a:r>
            <a:r>
              <a:rPr dirty="0" sz="1100" spc="-20">
                <a:latin typeface="Tahoma"/>
                <a:cs typeface="Tahoma"/>
              </a:rPr>
              <a:t>How</a:t>
            </a:r>
            <a:r>
              <a:rPr dirty="0" sz="1100" spc="-45">
                <a:latin typeface="Tahoma"/>
                <a:cs typeface="Tahoma"/>
              </a:rPr>
              <a:t> many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marks </a:t>
            </a:r>
            <a:r>
              <a:rPr dirty="0" sz="1100" spc="-10">
                <a:latin typeface="Tahoma"/>
                <a:cs typeface="Tahoma"/>
              </a:rPr>
              <a:t>might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the </a:t>
            </a:r>
            <a:r>
              <a:rPr dirty="0" sz="1100" spc="-30">
                <a:latin typeface="Tahoma"/>
                <a:cs typeface="Tahoma"/>
              </a:rPr>
              <a:t>student </a:t>
            </a:r>
            <a:r>
              <a:rPr dirty="0" sz="1100" spc="-20">
                <a:latin typeface="Tahoma"/>
                <a:cs typeface="Tahoma"/>
              </a:rPr>
              <a:t>get?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dirty="0" sz="1100" spc="-35">
                <a:latin typeface="Tahoma"/>
                <a:cs typeface="Tahoma"/>
              </a:rPr>
              <a:t>Example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output:</a:t>
            </a:r>
            <a:r>
              <a:rPr dirty="0" sz="1100" spc="4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72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marks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r>
              <a:rPr dirty="0" sz="1100" b="1">
                <a:latin typeface="Gill Sans MT"/>
                <a:cs typeface="Gill Sans MT"/>
              </a:rPr>
              <a:t>Task:</a:t>
            </a:r>
            <a:r>
              <a:rPr dirty="0" sz="1100" spc="30" b="1">
                <a:latin typeface="Gill Sans MT"/>
                <a:cs typeface="Gill Sans MT"/>
              </a:rPr>
              <a:t> </a:t>
            </a:r>
            <a:r>
              <a:rPr dirty="0" sz="1100" spc="-10">
                <a:latin typeface="Tahoma"/>
                <a:cs typeface="Tahoma"/>
              </a:rPr>
              <a:t>Regression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911944" y="865571"/>
            <a:ext cx="2784475" cy="878205"/>
            <a:chOff x="2911944" y="865571"/>
            <a:chExt cx="2784475" cy="878205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11944" y="994359"/>
              <a:ext cx="2733407" cy="5060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962744" y="865571"/>
              <a:ext cx="2733675" cy="878205"/>
            </a:xfrm>
            <a:custGeom>
              <a:avLst/>
              <a:gdLst/>
              <a:ahLst/>
              <a:cxnLst/>
              <a:rect l="l" t="t" r="r" b="b"/>
              <a:pathLst>
                <a:path w="2733675" h="878205">
                  <a:moveTo>
                    <a:pt x="2733407" y="0"/>
                  </a:moveTo>
                  <a:lnTo>
                    <a:pt x="0" y="0"/>
                  </a:lnTo>
                  <a:lnTo>
                    <a:pt x="0" y="877961"/>
                  </a:lnTo>
                  <a:lnTo>
                    <a:pt x="2733407" y="877961"/>
                  </a:lnTo>
                  <a:lnTo>
                    <a:pt x="27334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911944" y="1038633"/>
              <a:ext cx="2733675" cy="654685"/>
            </a:xfrm>
            <a:custGeom>
              <a:avLst/>
              <a:gdLst/>
              <a:ahLst/>
              <a:cxnLst/>
              <a:rect l="l" t="t" r="r" b="b"/>
              <a:pathLst>
                <a:path w="2733675" h="654685">
                  <a:moveTo>
                    <a:pt x="2733407" y="0"/>
                  </a:moveTo>
                  <a:lnTo>
                    <a:pt x="0" y="0"/>
                  </a:lnTo>
                  <a:lnTo>
                    <a:pt x="0" y="603298"/>
                  </a:lnTo>
                  <a:lnTo>
                    <a:pt x="4008" y="623023"/>
                  </a:lnTo>
                  <a:lnTo>
                    <a:pt x="14922" y="639176"/>
                  </a:lnTo>
                  <a:lnTo>
                    <a:pt x="31075" y="650090"/>
                  </a:lnTo>
                  <a:lnTo>
                    <a:pt x="50800" y="654098"/>
                  </a:lnTo>
                  <a:lnTo>
                    <a:pt x="2682606" y="654098"/>
                  </a:lnTo>
                  <a:lnTo>
                    <a:pt x="2702331" y="650090"/>
                  </a:lnTo>
                  <a:lnTo>
                    <a:pt x="2718484" y="639176"/>
                  </a:lnTo>
                  <a:lnTo>
                    <a:pt x="2729398" y="623023"/>
                  </a:lnTo>
                  <a:lnTo>
                    <a:pt x="2733407" y="603298"/>
                  </a:lnTo>
                  <a:lnTo>
                    <a:pt x="2733407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2962744" y="931085"/>
            <a:ext cx="2733675" cy="7581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768350">
              <a:lnSpc>
                <a:spcPct val="145600"/>
              </a:lnSpc>
              <a:spcBef>
                <a:spcPts val="100"/>
              </a:spcBef>
            </a:pPr>
            <a:r>
              <a:rPr dirty="0" sz="1100" spc="-25" b="1">
                <a:latin typeface="Gill Sans MT"/>
                <a:cs typeface="Gill Sans MT"/>
              </a:rPr>
              <a:t>Question:</a:t>
            </a:r>
            <a:r>
              <a:rPr dirty="0" sz="1100" spc="125" b="1">
                <a:latin typeface="Gill Sans MT"/>
                <a:cs typeface="Gill Sans MT"/>
              </a:rPr>
              <a:t> </a:t>
            </a:r>
            <a:r>
              <a:rPr dirty="0" sz="1100">
                <a:latin typeface="Tahoma"/>
                <a:cs typeface="Tahoma"/>
              </a:rPr>
              <a:t>Will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student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pass? </a:t>
            </a:r>
            <a:r>
              <a:rPr dirty="0" sz="1100" spc="-35">
                <a:latin typeface="Tahoma"/>
                <a:cs typeface="Tahoma"/>
              </a:rPr>
              <a:t>Example </a:t>
            </a:r>
            <a:r>
              <a:rPr dirty="0" sz="1100" spc="-20">
                <a:latin typeface="Tahoma"/>
                <a:cs typeface="Tahoma"/>
              </a:rPr>
              <a:t>output:</a:t>
            </a:r>
            <a:r>
              <a:rPr dirty="0" sz="1100" spc="7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Pass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114">
                <a:latin typeface="Tahoma"/>
                <a:cs typeface="Tahoma"/>
              </a:rPr>
              <a:t>/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Fail </a:t>
            </a:r>
            <a:r>
              <a:rPr dirty="0" sz="1100" b="1">
                <a:latin typeface="Gill Sans MT"/>
                <a:cs typeface="Gill Sans MT"/>
              </a:rPr>
              <a:t>Task:</a:t>
            </a:r>
            <a:r>
              <a:rPr dirty="0" sz="1100" spc="30" b="1">
                <a:latin typeface="Gill Sans MT"/>
                <a:cs typeface="Gill Sans MT"/>
              </a:rPr>
              <a:t> </a:t>
            </a:r>
            <a:r>
              <a:rPr dirty="0" sz="1100" spc="-10">
                <a:latin typeface="Tahoma"/>
                <a:cs typeface="Tahoma"/>
              </a:rPr>
              <a:t>Classification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7743" y="2103170"/>
            <a:ext cx="5584825" cy="187960"/>
          </a:xfrm>
          <a:custGeom>
            <a:avLst/>
            <a:gdLst/>
            <a:ahLst/>
            <a:cxnLst/>
            <a:rect l="l" t="t" r="r" b="b"/>
            <a:pathLst>
              <a:path w="5584825" h="187960">
                <a:moveTo>
                  <a:pt x="553377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5584580" y="187823"/>
                </a:lnTo>
                <a:lnTo>
                  <a:pt x="5584580" y="50800"/>
                </a:lnTo>
                <a:lnTo>
                  <a:pt x="5580571" y="31075"/>
                </a:lnTo>
                <a:lnTo>
                  <a:pt x="5569657" y="14922"/>
                </a:lnTo>
                <a:lnTo>
                  <a:pt x="5553504" y="4008"/>
                </a:lnTo>
                <a:lnTo>
                  <a:pt x="5533779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38544" y="2131618"/>
            <a:ext cx="361315" cy="1536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45"/>
              </a:lnSpc>
            </a:pPr>
            <a:r>
              <a:rPr dirty="0" sz="1200" spc="-35">
                <a:solidFill>
                  <a:srgbClr val="FFFFFF"/>
                </a:solidFill>
                <a:latin typeface="Tahoma"/>
                <a:cs typeface="Tahoma"/>
              </a:rPr>
              <a:t>Think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7743" y="2160105"/>
            <a:ext cx="5635625" cy="586105"/>
            <a:chOff x="87743" y="2160105"/>
            <a:chExt cx="5635625" cy="586105"/>
          </a:xfrm>
        </p:grpSpPr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743" y="2278341"/>
              <a:ext cx="5584580" cy="5060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38544" y="2160105"/>
              <a:ext cx="5584825" cy="586105"/>
            </a:xfrm>
            <a:custGeom>
              <a:avLst/>
              <a:gdLst/>
              <a:ahLst/>
              <a:cxnLst/>
              <a:rect l="l" t="t" r="r" b="b"/>
              <a:pathLst>
                <a:path w="5584825" h="586105">
                  <a:moveTo>
                    <a:pt x="5584580" y="0"/>
                  </a:moveTo>
                  <a:lnTo>
                    <a:pt x="0" y="0"/>
                  </a:lnTo>
                  <a:lnTo>
                    <a:pt x="0" y="585978"/>
                  </a:lnTo>
                  <a:lnTo>
                    <a:pt x="5584580" y="585978"/>
                  </a:lnTo>
                  <a:lnTo>
                    <a:pt x="55845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87743" y="2322624"/>
              <a:ext cx="5584825" cy="372745"/>
            </a:xfrm>
            <a:custGeom>
              <a:avLst/>
              <a:gdLst/>
              <a:ahLst/>
              <a:cxnLst/>
              <a:rect l="l" t="t" r="r" b="b"/>
              <a:pathLst>
                <a:path w="5584825" h="372744">
                  <a:moveTo>
                    <a:pt x="5584580" y="0"/>
                  </a:moveTo>
                  <a:lnTo>
                    <a:pt x="0" y="0"/>
                  </a:lnTo>
                  <a:lnTo>
                    <a:pt x="0" y="321858"/>
                  </a:lnTo>
                  <a:lnTo>
                    <a:pt x="4008" y="341583"/>
                  </a:lnTo>
                  <a:lnTo>
                    <a:pt x="14922" y="357736"/>
                  </a:lnTo>
                  <a:lnTo>
                    <a:pt x="31075" y="368650"/>
                  </a:lnTo>
                  <a:lnTo>
                    <a:pt x="50800" y="372659"/>
                  </a:lnTo>
                  <a:lnTo>
                    <a:pt x="5533779" y="372659"/>
                  </a:lnTo>
                  <a:lnTo>
                    <a:pt x="5553504" y="368650"/>
                  </a:lnTo>
                  <a:lnTo>
                    <a:pt x="5569657" y="357736"/>
                  </a:lnTo>
                  <a:lnTo>
                    <a:pt x="5580571" y="341583"/>
                  </a:lnTo>
                  <a:lnTo>
                    <a:pt x="5584580" y="321858"/>
                  </a:lnTo>
                  <a:lnTo>
                    <a:pt x="5584580" y="0"/>
                  </a:lnTo>
                  <a:close/>
                </a:path>
              </a:pathLst>
            </a:custGeom>
            <a:solidFill>
              <a:srgbClr val="F8E5E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138544" y="2300590"/>
            <a:ext cx="5584825" cy="36385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R="170180">
              <a:lnSpc>
                <a:spcPct val="102699"/>
              </a:lnSpc>
              <a:spcBef>
                <a:spcPts val="55"/>
              </a:spcBef>
            </a:pPr>
            <a:r>
              <a:rPr dirty="0" sz="1100" spc="-10">
                <a:latin typeface="Tahoma"/>
                <a:cs typeface="Tahoma"/>
              </a:rPr>
              <a:t>Would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you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65">
                <a:latin typeface="Tahoma"/>
                <a:cs typeface="Tahoma"/>
              </a:rPr>
              <a:t>use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exactly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same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model </a:t>
            </a:r>
            <a:r>
              <a:rPr dirty="0" sz="1100" spc="-20">
                <a:latin typeface="Tahoma"/>
                <a:cs typeface="Tahoma"/>
              </a:rPr>
              <a:t>output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for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predicting </a:t>
            </a:r>
            <a:r>
              <a:rPr dirty="0" sz="1100" spc="-50">
                <a:latin typeface="Tahoma"/>
                <a:cs typeface="Tahoma"/>
              </a:rPr>
              <a:t>marks</a:t>
            </a:r>
            <a:r>
              <a:rPr dirty="0" sz="1100" spc="-35">
                <a:latin typeface="Tahoma"/>
                <a:cs typeface="Tahoma"/>
              </a:rPr>
              <a:t> and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predicting </a:t>
            </a:r>
            <a:r>
              <a:rPr dirty="0" sz="1100" spc="-10">
                <a:latin typeface="Tahoma"/>
                <a:cs typeface="Tahoma"/>
              </a:rPr>
              <a:t>Pass/Fail? </a:t>
            </a:r>
            <a:r>
              <a:rPr dirty="0" sz="1100" spc="-20">
                <a:latin typeface="Tahoma"/>
                <a:cs typeface="Tahoma"/>
              </a:rPr>
              <a:t>Why?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3505">
              <a:lnSpc>
                <a:spcPts val="675"/>
              </a:lnSpc>
            </a:pPr>
            <a:fld id="{81D60167-4931-47E6-BA6A-407CBD079E47}" type="slidenum">
              <a:rPr dirty="0" spc="-10"/>
              <a:t>1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59877"/>
            <a:ext cx="2510155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0"/>
              <a:t>Linear</a:t>
            </a:r>
            <a:r>
              <a:rPr dirty="0" spc="-50"/>
              <a:t> </a:t>
            </a:r>
            <a:r>
              <a:rPr dirty="0" spc="-55"/>
              <a:t>regression:</a:t>
            </a:r>
            <a:r>
              <a:rPr dirty="0" spc="75"/>
              <a:t> </a:t>
            </a:r>
            <a:r>
              <a:rPr dirty="0"/>
              <a:t>a</a:t>
            </a:r>
            <a:r>
              <a:rPr dirty="0" spc="-50"/>
              <a:t> </a:t>
            </a:r>
            <a:r>
              <a:rPr dirty="0" spc="-45"/>
              <a:t>simple </a:t>
            </a:r>
            <a:r>
              <a:rPr dirty="0" spc="-3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405585"/>
            <a:ext cx="39789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We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begin </a:t>
            </a:r>
            <a:r>
              <a:rPr dirty="0" sz="1100" spc="-35">
                <a:latin typeface="Tahoma"/>
                <a:cs typeface="Tahoma"/>
              </a:rPr>
              <a:t>by</a:t>
            </a:r>
            <a:r>
              <a:rPr dirty="0" sz="1100" spc="-45">
                <a:latin typeface="Tahoma"/>
                <a:cs typeface="Tahoma"/>
              </a:rPr>
              <a:t> assuming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that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straight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line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40">
                <a:latin typeface="Tahoma"/>
                <a:cs typeface="Tahoma"/>
              </a:rPr>
              <a:t> useful </a:t>
            </a:r>
            <a:r>
              <a:rPr dirty="0" sz="1100" spc="-35">
                <a:latin typeface="Tahoma"/>
                <a:cs typeface="Tahoma"/>
              </a:rPr>
              <a:t>approximation.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99499" y="764273"/>
            <a:ext cx="761365" cy="204470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40005">
              <a:lnSpc>
                <a:spcPts val="1295"/>
              </a:lnSpc>
            </a:pPr>
            <a:r>
              <a:rPr dirty="0" sz="1100" spc="-270" i="1">
                <a:latin typeface="Arial"/>
                <a:cs typeface="Arial"/>
              </a:rPr>
              <a:t>y</a:t>
            </a:r>
            <a:r>
              <a:rPr dirty="0" sz="1100" spc="-270">
                <a:latin typeface="Tahoma"/>
                <a:cs typeface="Tahoma"/>
              </a:rPr>
              <a:t>ˆ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wx</a:t>
            </a:r>
            <a:r>
              <a:rPr dirty="0" sz="1100" spc="3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spc="-50" i="1">
                <a:latin typeface="Arial"/>
                <a:cs typeface="Arial"/>
              </a:rPr>
              <a:t>b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070317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242390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414462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586534"/>
            <a:ext cx="65265" cy="65265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87743" y="1771255"/>
            <a:ext cx="5584825" cy="198755"/>
          </a:xfrm>
          <a:custGeom>
            <a:avLst/>
            <a:gdLst/>
            <a:ahLst/>
            <a:cxnLst/>
            <a:rect l="l" t="t" r="r" b="b"/>
            <a:pathLst>
              <a:path w="5584825" h="198755">
                <a:moveTo>
                  <a:pt x="553377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5584580" y="198367"/>
                </a:lnTo>
                <a:lnTo>
                  <a:pt x="5584580" y="50800"/>
                </a:lnTo>
                <a:lnTo>
                  <a:pt x="5580571" y="31075"/>
                </a:lnTo>
                <a:lnTo>
                  <a:pt x="5569657" y="14922"/>
                </a:lnTo>
                <a:lnTo>
                  <a:pt x="5553504" y="4008"/>
                </a:lnTo>
                <a:lnTo>
                  <a:pt x="5533779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38544" y="1799703"/>
            <a:ext cx="522605" cy="1536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45"/>
              </a:lnSpc>
            </a:pPr>
            <a:r>
              <a:rPr dirty="0" sz="1200" spc="-70">
                <a:solidFill>
                  <a:srgbClr val="FFFFFF"/>
                </a:solidFill>
                <a:latin typeface="Tahoma"/>
                <a:cs typeface="Tahoma"/>
              </a:rPr>
              <a:t>Example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7743" y="1828186"/>
            <a:ext cx="5635625" cy="850900"/>
            <a:chOff x="87743" y="1828186"/>
            <a:chExt cx="5635625" cy="850900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743" y="1956968"/>
              <a:ext cx="5584580" cy="5060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38544" y="1828186"/>
              <a:ext cx="5584825" cy="850900"/>
            </a:xfrm>
            <a:custGeom>
              <a:avLst/>
              <a:gdLst/>
              <a:ahLst/>
              <a:cxnLst/>
              <a:rect l="l" t="t" r="r" b="b"/>
              <a:pathLst>
                <a:path w="5584825" h="850900">
                  <a:moveTo>
                    <a:pt x="5584580" y="0"/>
                  </a:moveTo>
                  <a:lnTo>
                    <a:pt x="0" y="0"/>
                  </a:lnTo>
                  <a:lnTo>
                    <a:pt x="0" y="850841"/>
                  </a:lnTo>
                  <a:lnTo>
                    <a:pt x="5584580" y="850841"/>
                  </a:lnTo>
                  <a:lnTo>
                    <a:pt x="55845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87743" y="2001248"/>
              <a:ext cx="5584825" cy="627380"/>
            </a:xfrm>
            <a:custGeom>
              <a:avLst/>
              <a:gdLst/>
              <a:ahLst/>
              <a:cxnLst/>
              <a:rect l="l" t="t" r="r" b="b"/>
              <a:pathLst>
                <a:path w="5584825" h="627380">
                  <a:moveTo>
                    <a:pt x="5584580" y="0"/>
                  </a:moveTo>
                  <a:lnTo>
                    <a:pt x="0" y="0"/>
                  </a:lnTo>
                  <a:lnTo>
                    <a:pt x="0" y="576178"/>
                  </a:lnTo>
                  <a:lnTo>
                    <a:pt x="4008" y="595902"/>
                  </a:lnTo>
                  <a:lnTo>
                    <a:pt x="14922" y="612055"/>
                  </a:lnTo>
                  <a:lnTo>
                    <a:pt x="31075" y="622970"/>
                  </a:lnTo>
                  <a:lnTo>
                    <a:pt x="50800" y="626978"/>
                  </a:lnTo>
                  <a:lnTo>
                    <a:pt x="5533779" y="626978"/>
                  </a:lnTo>
                  <a:lnTo>
                    <a:pt x="5553504" y="622970"/>
                  </a:lnTo>
                  <a:lnTo>
                    <a:pt x="5569657" y="612055"/>
                  </a:lnTo>
                  <a:lnTo>
                    <a:pt x="5580571" y="595902"/>
                  </a:lnTo>
                  <a:lnTo>
                    <a:pt x="5584580" y="576178"/>
                  </a:lnTo>
                  <a:lnTo>
                    <a:pt x="5584580" y="0"/>
                  </a:lnTo>
                  <a:close/>
                </a:path>
              </a:pathLst>
            </a:custGeom>
            <a:solidFill>
              <a:srgbClr val="E5EFE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125844" y="986864"/>
            <a:ext cx="3179445" cy="160274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89560" marR="1137285">
              <a:lnSpc>
                <a:spcPct val="102600"/>
              </a:lnSpc>
              <a:spcBef>
                <a:spcPts val="55"/>
              </a:spcBef>
            </a:pPr>
            <a:r>
              <a:rPr dirty="0" sz="1100" spc="-55" i="1">
                <a:latin typeface="Arial"/>
                <a:cs typeface="Arial"/>
              </a:rPr>
              <a:t>x</a:t>
            </a:r>
            <a:r>
              <a:rPr dirty="0" sz="1100" spc="-21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:</a:t>
            </a:r>
            <a:r>
              <a:rPr dirty="0" sz="1100" spc="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input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feature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(study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hours) </a:t>
            </a:r>
            <a:r>
              <a:rPr dirty="0" sz="1100" spc="-204" i="1">
                <a:latin typeface="Arial"/>
                <a:cs typeface="Arial"/>
              </a:rPr>
              <a:t>y</a:t>
            </a:r>
            <a:r>
              <a:rPr dirty="0" sz="1100" spc="-204">
                <a:latin typeface="Tahoma"/>
                <a:cs typeface="Tahoma"/>
              </a:rPr>
              <a:t>ˆ:</a:t>
            </a:r>
            <a:r>
              <a:rPr dirty="0" sz="1100" spc="114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predicted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output</a:t>
            </a:r>
            <a:r>
              <a:rPr dirty="0" sz="1100" spc="-10">
                <a:latin typeface="Tahoma"/>
                <a:cs typeface="Tahoma"/>
              </a:rPr>
              <a:t> (marks) </a:t>
            </a:r>
            <a:r>
              <a:rPr dirty="0" sz="1100" spc="-65" i="1">
                <a:latin typeface="Arial"/>
                <a:cs typeface="Arial"/>
              </a:rPr>
              <a:t>w</a:t>
            </a:r>
            <a:r>
              <a:rPr dirty="0" sz="1100" spc="-19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:</a:t>
            </a:r>
            <a:r>
              <a:rPr dirty="0" sz="1100" spc="7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weight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114">
                <a:latin typeface="Tahoma"/>
                <a:cs typeface="Tahoma"/>
              </a:rPr>
              <a:t>/</a:t>
            </a:r>
            <a:r>
              <a:rPr dirty="0" sz="1100" spc="-20">
                <a:latin typeface="Tahoma"/>
                <a:cs typeface="Tahoma"/>
              </a:rPr>
              <a:t> slope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35"/>
              </a:spcBef>
            </a:pPr>
            <a:r>
              <a:rPr dirty="0" sz="1100" i="1">
                <a:latin typeface="Arial"/>
                <a:cs typeface="Arial"/>
              </a:rPr>
              <a:t>b</a:t>
            </a:r>
            <a:r>
              <a:rPr dirty="0" sz="1100">
                <a:latin typeface="Tahoma"/>
                <a:cs typeface="Tahoma"/>
              </a:rPr>
              <a:t>:</a:t>
            </a:r>
            <a:r>
              <a:rPr dirty="0" sz="1100" spc="6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bias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114">
                <a:latin typeface="Tahoma"/>
                <a:cs typeface="Tahoma"/>
              </a:rPr>
              <a:t>/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intercept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40"/>
              </a:spcBef>
            </a:pP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100" spc="-30">
                <a:latin typeface="Tahoma"/>
                <a:cs typeface="Tahoma"/>
              </a:rPr>
              <a:t>If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w</a:t>
            </a:r>
            <a:r>
              <a:rPr dirty="0" sz="1100" spc="7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7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10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sz="1100" spc="-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7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10, </a:t>
            </a:r>
            <a:r>
              <a:rPr dirty="0" sz="1100" spc="-20">
                <a:latin typeface="Tahoma"/>
                <a:cs typeface="Tahoma"/>
              </a:rPr>
              <a:t>then</a:t>
            </a:r>
            <a:endParaRPr sz="1100">
              <a:latin typeface="Tahoma"/>
              <a:cs typeface="Tahoma"/>
            </a:endParaRPr>
          </a:p>
          <a:p>
            <a:pPr marL="2341245">
              <a:lnSpc>
                <a:spcPct val="100000"/>
              </a:lnSpc>
              <a:spcBef>
                <a:spcPts val="35"/>
              </a:spcBef>
            </a:pPr>
            <a:r>
              <a:rPr dirty="0" sz="1100" spc="-270" i="1">
                <a:latin typeface="Arial"/>
                <a:cs typeface="Arial"/>
              </a:rPr>
              <a:t>y</a:t>
            </a:r>
            <a:r>
              <a:rPr dirty="0" sz="1100" spc="-270">
                <a:latin typeface="Tahoma"/>
                <a:cs typeface="Tahoma"/>
              </a:rPr>
              <a:t>ˆ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35">
                <a:latin typeface="Tahoma"/>
                <a:cs typeface="Tahoma"/>
              </a:rPr>
              <a:t> 10</a:t>
            </a:r>
            <a:r>
              <a:rPr dirty="0" sz="1100" spc="-35" i="1">
                <a:latin typeface="Arial"/>
                <a:cs typeface="Arial"/>
              </a:rPr>
              <a:t>x</a:t>
            </a:r>
            <a:r>
              <a:rPr dirty="0" sz="1100" spc="4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10</a:t>
            </a:r>
            <a:r>
              <a:rPr dirty="0" sz="1100" spc="-25" i="1"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dirty="0" sz="1100" spc="-10">
                <a:latin typeface="Tahoma"/>
                <a:cs typeface="Tahoma"/>
              </a:rPr>
              <a:t>For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sz="1100" spc="8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4:</a:t>
            </a:r>
            <a:r>
              <a:rPr dirty="0" sz="1100" spc="130">
                <a:latin typeface="Tahoma"/>
                <a:cs typeface="Tahoma"/>
              </a:rPr>
              <a:t> </a:t>
            </a:r>
            <a:r>
              <a:rPr dirty="0" sz="1100" spc="-270" i="1">
                <a:latin typeface="Arial"/>
                <a:cs typeface="Arial"/>
              </a:rPr>
              <a:t>y</a:t>
            </a:r>
            <a:r>
              <a:rPr dirty="0" sz="1100" spc="-270">
                <a:latin typeface="Tahoma"/>
                <a:cs typeface="Tahoma"/>
              </a:rPr>
              <a:t>ˆ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10(4)</a:t>
            </a:r>
            <a:r>
              <a:rPr dirty="0" sz="1100" spc="-10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spc="-65">
                <a:latin typeface="Tahoma"/>
                <a:cs typeface="Tahoma"/>
              </a:rPr>
              <a:t>10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50.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7743" y="2742196"/>
            <a:ext cx="5584825" cy="187960"/>
          </a:xfrm>
          <a:custGeom>
            <a:avLst/>
            <a:gdLst/>
            <a:ahLst/>
            <a:cxnLst/>
            <a:rect l="l" t="t" r="r" b="b"/>
            <a:pathLst>
              <a:path w="5584825" h="187960">
                <a:moveTo>
                  <a:pt x="553377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5584580" y="187823"/>
                </a:lnTo>
                <a:lnTo>
                  <a:pt x="5584580" y="50800"/>
                </a:lnTo>
                <a:lnTo>
                  <a:pt x="5580571" y="31075"/>
                </a:lnTo>
                <a:lnTo>
                  <a:pt x="5569657" y="14922"/>
                </a:lnTo>
                <a:lnTo>
                  <a:pt x="5553504" y="4008"/>
                </a:lnTo>
                <a:lnTo>
                  <a:pt x="5533779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38544" y="2770644"/>
            <a:ext cx="808990" cy="1536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45"/>
              </a:lnSpc>
            </a:pPr>
            <a:r>
              <a:rPr dirty="0" sz="1200">
                <a:solidFill>
                  <a:srgbClr val="FFFFFF"/>
                </a:solidFill>
                <a:latin typeface="Tahoma"/>
                <a:cs typeface="Tahoma"/>
              </a:rPr>
              <a:t>Ask</a:t>
            </a:r>
            <a:r>
              <a:rPr dirty="0" sz="1200" spc="-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4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dirty="0" sz="1200" spc="-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70">
                <a:solidFill>
                  <a:srgbClr val="FFFFFF"/>
                </a:solidFill>
                <a:latin typeface="Tahoma"/>
                <a:cs typeface="Tahoma"/>
              </a:rPr>
              <a:t>class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87743" y="2799124"/>
            <a:ext cx="5635625" cy="406400"/>
            <a:chOff x="87743" y="2799124"/>
            <a:chExt cx="5635625" cy="406400"/>
          </a:xfrm>
        </p:grpSpPr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7743" y="2917367"/>
              <a:ext cx="5584580" cy="5060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38544" y="2799124"/>
              <a:ext cx="5584825" cy="406400"/>
            </a:xfrm>
            <a:custGeom>
              <a:avLst/>
              <a:gdLst/>
              <a:ahLst/>
              <a:cxnLst/>
              <a:rect l="l" t="t" r="r" b="b"/>
              <a:pathLst>
                <a:path w="5584825" h="406400">
                  <a:moveTo>
                    <a:pt x="5584580" y="0"/>
                  </a:moveTo>
                  <a:lnTo>
                    <a:pt x="0" y="0"/>
                  </a:lnTo>
                  <a:lnTo>
                    <a:pt x="0" y="406204"/>
                  </a:lnTo>
                  <a:lnTo>
                    <a:pt x="5584580" y="406204"/>
                  </a:lnTo>
                  <a:lnTo>
                    <a:pt x="55845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87743" y="2961642"/>
              <a:ext cx="5584825" cy="193040"/>
            </a:xfrm>
            <a:custGeom>
              <a:avLst/>
              <a:gdLst/>
              <a:ahLst/>
              <a:cxnLst/>
              <a:rect l="l" t="t" r="r" b="b"/>
              <a:pathLst>
                <a:path w="5584825" h="193039">
                  <a:moveTo>
                    <a:pt x="5584580" y="0"/>
                  </a:moveTo>
                  <a:lnTo>
                    <a:pt x="0" y="0"/>
                  </a:lnTo>
                  <a:lnTo>
                    <a:pt x="0" y="142084"/>
                  </a:lnTo>
                  <a:lnTo>
                    <a:pt x="4008" y="161809"/>
                  </a:lnTo>
                  <a:lnTo>
                    <a:pt x="14922" y="177962"/>
                  </a:lnTo>
                  <a:lnTo>
                    <a:pt x="31075" y="188876"/>
                  </a:lnTo>
                  <a:lnTo>
                    <a:pt x="50800" y="192885"/>
                  </a:lnTo>
                  <a:lnTo>
                    <a:pt x="5533779" y="192885"/>
                  </a:lnTo>
                  <a:lnTo>
                    <a:pt x="5553504" y="188876"/>
                  </a:lnTo>
                  <a:lnTo>
                    <a:pt x="5569657" y="177962"/>
                  </a:lnTo>
                  <a:lnTo>
                    <a:pt x="5580571" y="161809"/>
                  </a:lnTo>
                  <a:lnTo>
                    <a:pt x="5584580" y="142084"/>
                  </a:lnTo>
                  <a:lnTo>
                    <a:pt x="5584580" y="0"/>
                  </a:lnTo>
                  <a:close/>
                </a:path>
              </a:pathLst>
            </a:custGeom>
            <a:solidFill>
              <a:srgbClr val="F8E5E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125844" y="2965310"/>
            <a:ext cx="482219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>
                <a:latin typeface="Tahoma"/>
                <a:cs typeface="Tahoma"/>
              </a:rPr>
              <a:t>What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happens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prediction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if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95">
                <a:latin typeface="Tahoma"/>
                <a:cs typeface="Tahoma"/>
              </a:rPr>
              <a:t>we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increase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65" i="1">
                <a:latin typeface="Arial"/>
                <a:cs typeface="Arial"/>
              </a:rPr>
              <a:t>w</a:t>
            </a:r>
            <a:r>
              <a:rPr dirty="0" sz="1100" spc="-19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?</a:t>
            </a:r>
            <a:r>
              <a:rPr dirty="0" sz="1100" spc="1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What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happens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if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90">
                <a:latin typeface="Tahoma"/>
                <a:cs typeface="Tahoma"/>
              </a:rPr>
              <a:t>we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increase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25" i="1">
                <a:latin typeface="Arial"/>
                <a:cs typeface="Arial"/>
              </a:rPr>
              <a:t>b</a:t>
            </a:r>
            <a:r>
              <a:rPr dirty="0" sz="1100" spc="-25">
                <a:latin typeface="Tahoma"/>
                <a:cs typeface="Tahoma"/>
              </a:rPr>
              <a:t>?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3505">
              <a:lnSpc>
                <a:spcPts val="675"/>
              </a:lnSpc>
            </a:pPr>
            <a:fld id="{81D60167-4931-47E6-BA6A-407CBD079E47}" type="slidenum">
              <a:rPr dirty="0" spc="-10"/>
              <a:t>4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5"/>
              <a:t>Important:</a:t>
            </a:r>
            <a:r>
              <a:rPr dirty="0" spc="40"/>
              <a:t> </a:t>
            </a:r>
            <a:r>
              <a:rPr dirty="0" spc="-30"/>
              <a:t>linearity</a:t>
            </a:r>
            <a:r>
              <a:rPr dirty="0" spc="-75"/>
              <a:t> </a:t>
            </a:r>
            <a:r>
              <a:rPr dirty="0"/>
              <a:t>is</a:t>
            </a:r>
            <a:r>
              <a:rPr dirty="0" spc="-75"/>
              <a:t> </a:t>
            </a:r>
            <a:r>
              <a:rPr dirty="0"/>
              <a:t>an</a:t>
            </a:r>
            <a:r>
              <a:rPr dirty="0" spc="-75"/>
              <a:t> </a:t>
            </a:r>
            <a:r>
              <a:rPr dirty="0" spc="-40"/>
              <a:t>assumption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995172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205204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415237"/>
            <a:ext cx="65265" cy="65265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87743" y="1649196"/>
            <a:ext cx="5584825" cy="198755"/>
          </a:xfrm>
          <a:custGeom>
            <a:avLst/>
            <a:gdLst/>
            <a:ahLst/>
            <a:cxnLst/>
            <a:rect l="l" t="t" r="r" b="b"/>
            <a:pathLst>
              <a:path w="5584825" h="198755">
                <a:moveTo>
                  <a:pt x="553377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5584580" y="198367"/>
                </a:lnTo>
                <a:lnTo>
                  <a:pt x="5584580" y="50800"/>
                </a:lnTo>
                <a:lnTo>
                  <a:pt x="5580571" y="31075"/>
                </a:lnTo>
                <a:lnTo>
                  <a:pt x="5569657" y="14922"/>
                </a:lnTo>
                <a:lnTo>
                  <a:pt x="5553504" y="4008"/>
                </a:lnTo>
                <a:lnTo>
                  <a:pt x="5533779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38544" y="1677644"/>
            <a:ext cx="1743710" cy="1536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45"/>
              </a:lnSpc>
            </a:pPr>
            <a:r>
              <a:rPr dirty="0" sz="1200" spc="-50">
                <a:solidFill>
                  <a:srgbClr val="FFFFFF"/>
                </a:solidFill>
                <a:latin typeface="Tahoma"/>
                <a:cs typeface="Tahoma"/>
              </a:rPr>
              <a:t>Thought-</a:t>
            </a:r>
            <a:r>
              <a:rPr dirty="0" sz="1200" spc="-55">
                <a:solidFill>
                  <a:srgbClr val="FFFFFF"/>
                </a:solidFill>
                <a:latin typeface="Tahoma"/>
                <a:cs typeface="Tahoma"/>
              </a:rPr>
              <a:t>provoking</a:t>
            </a:r>
            <a:r>
              <a:rPr dirty="0" sz="1200" spc="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60">
                <a:solidFill>
                  <a:srgbClr val="FFFFFF"/>
                </a:solidFill>
                <a:latin typeface="Tahoma"/>
                <a:cs typeface="Tahoma"/>
              </a:rPr>
              <a:t>question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7743" y="1706129"/>
            <a:ext cx="5635625" cy="589280"/>
            <a:chOff x="87743" y="1706129"/>
            <a:chExt cx="5635625" cy="589280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743" y="1834908"/>
              <a:ext cx="5584580" cy="5060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38544" y="1706129"/>
              <a:ext cx="5584825" cy="589280"/>
            </a:xfrm>
            <a:custGeom>
              <a:avLst/>
              <a:gdLst/>
              <a:ahLst/>
              <a:cxnLst/>
              <a:rect l="l" t="t" r="r" b="b"/>
              <a:pathLst>
                <a:path w="5584825" h="589280">
                  <a:moveTo>
                    <a:pt x="5584580" y="0"/>
                  </a:moveTo>
                  <a:lnTo>
                    <a:pt x="0" y="0"/>
                  </a:lnTo>
                  <a:lnTo>
                    <a:pt x="0" y="588824"/>
                  </a:lnTo>
                  <a:lnTo>
                    <a:pt x="5584580" y="588824"/>
                  </a:lnTo>
                  <a:lnTo>
                    <a:pt x="55845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87743" y="1879191"/>
              <a:ext cx="5584825" cy="365125"/>
            </a:xfrm>
            <a:custGeom>
              <a:avLst/>
              <a:gdLst/>
              <a:ahLst/>
              <a:cxnLst/>
              <a:rect l="l" t="t" r="r" b="b"/>
              <a:pathLst>
                <a:path w="5584825" h="365125">
                  <a:moveTo>
                    <a:pt x="5584580" y="0"/>
                  </a:moveTo>
                  <a:lnTo>
                    <a:pt x="0" y="0"/>
                  </a:lnTo>
                  <a:lnTo>
                    <a:pt x="0" y="314161"/>
                  </a:lnTo>
                  <a:lnTo>
                    <a:pt x="4008" y="333886"/>
                  </a:lnTo>
                  <a:lnTo>
                    <a:pt x="14922" y="350039"/>
                  </a:lnTo>
                  <a:lnTo>
                    <a:pt x="31075" y="360953"/>
                  </a:lnTo>
                  <a:lnTo>
                    <a:pt x="50800" y="364962"/>
                  </a:lnTo>
                  <a:lnTo>
                    <a:pt x="5533779" y="364962"/>
                  </a:lnTo>
                  <a:lnTo>
                    <a:pt x="5553504" y="360953"/>
                  </a:lnTo>
                  <a:lnTo>
                    <a:pt x="5569657" y="350039"/>
                  </a:lnTo>
                  <a:lnTo>
                    <a:pt x="5580571" y="333886"/>
                  </a:lnTo>
                  <a:lnTo>
                    <a:pt x="5584580" y="314161"/>
                  </a:lnTo>
                  <a:lnTo>
                    <a:pt x="5584580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125844" y="657908"/>
            <a:ext cx="5597525" cy="2021839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100">
                <a:latin typeface="Tahoma"/>
                <a:cs typeface="Tahoma"/>
              </a:rPr>
              <a:t>We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do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b="1">
                <a:latin typeface="Gill Sans MT"/>
                <a:cs typeface="Gill Sans MT"/>
              </a:rPr>
              <a:t>not</a:t>
            </a:r>
            <a:r>
              <a:rPr dirty="0" sz="1100" spc="5" b="1">
                <a:latin typeface="Gill Sans MT"/>
                <a:cs typeface="Gill Sans MT"/>
              </a:rPr>
              <a:t> </a:t>
            </a:r>
            <a:r>
              <a:rPr dirty="0" sz="1100" spc="-50">
                <a:latin typeface="Tahoma"/>
                <a:cs typeface="Tahoma"/>
              </a:rPr>
              <a:t>know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advance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that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every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real-</a:t>
            </a:r>
            <a:r>
              <a:rPr dirty="0" sz="1100" spc="-50">
                <a:latin typeface="Tahoma"/>
                <a:cs typeface="Tahoma"/>
              </a:rPr>
              <a:t>world</a:t>
            </a:r>
            <a:r>
              <a:rPr dirty="0" sz="1100" spc="-30">
                <a:latin typeface="Tahoma"/>
                <a:cs typeface="Tahoma"/>
              </a:rPr>
              <a:t> relationship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linear.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334"/>
              </a:spcBef>
            </a:pPr>
            <a:r>
              <a:rPr dirty="0" sz="1100">
                <a:latin typeface="Tahoma"/>
                <a:cs typeface="Tahoma"/>
              </a:rPr>
              <a:t>We</a:t>
            </a:r>
            <a:r>
              <a:rPr dirty="0" sz="1100" spc="-9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choose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simple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model:</a:t>
            </a:r>
            <a:r>
              <a:rPr dirty="0" sz="1100" spc="80">
                <a:latin typeface="Tahoma"/>
                <a:cs typeface="Tahoma"/>
              </a:rPr>
              <a:t> </a:t>
            </a:r>
            <a:r>
              <a:rPr dirty="0" sz="1100" spc="-270" i="1">
                <a:latin typeface="Arial"/>
                <a:cs typeface="Arial"/>
              </a:rPr>
              <a:t>y</a:t>
            </a:r>
            <a:r>
              <a:rPr dirty="0" sz="1100" spc="-270">
                <a:latin typeface="Tahoma"/>
                <a:cs typeface="Tahoma"/>
              </a:rPr>
              <a:t>ˆ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7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wx</a:t>
            </a:r>
            <a:r>
              <a:rPr dirty="0" sz="1100" spc="-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spc="-25" i="1">
                <a:latin typeface="Arial"/>
                <a:cs typeface="Arial"/>
              </a:rPr>
              <a:t>b</a:t>
            </a:r>
            <a:r>
              <a:rPr dirty="0" sz="1100" spc="-25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marL="289560" marR="1957705">
              <a:lnSpc>
                <a:spcPct val="125299"/>
              </a:lnSpc>
            </a:pPr>
            <a:r>
              <a:rPr dirty="0" sz="1100">
                <a:latin typeface="Tahoma"/>
                <a:cs typeface="Tahoma"/>
              </a:rPr>
              <a:t>We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learn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good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values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w</a:t>
            </a:r>
            <a:r>
              <a:rPr dirty="0" sz="1100" spc="100" i="1">
                <a:latin typeface="Arial"/>
                <a:cs typeface="Arial"/>
              </a:rPr>
              <a:t> </a:t>
            </a:r>
            <a:r>
              <a:rPr dirty="0" sz="1100" spc="-35">
                <a:latin typeface="Tahoma"/>
                <a:cs typeface="Tahoma"/>
              </a:rPr>
              <a:t>and 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sz="1100" spc="30" i="1">
                <a:latin typeface="Arial"/>
                <a:cs typeface="Arial"/>
              </a:rPr>
              <a:t> </a:t>
            </a:r>
            <a:r>
              <a:rPr dirty="0" sz="1100" spc="-20">
                <a:latin typeface="Tahoma"/>
                <a:cs typeface="Tahoma"/>
              </a:rPr>
              <a:t>from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training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examples. </a:t>
            </a:r>
            <a:r>
              <a:rPr dirty="0" sz="1100">
                <a:latin typeface="Tahoma"/>
                <a:cs typeface="Tahoma"/>
              </a:rPr>
              <a:t>We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test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35">
                <a:latin typeface="Tahoma"/>
                <a:cs typeface="Tahoma"/>
              </a:rPr>
              <a:t> model </a:t>
            </a:r>
            <a:r>
              <a:rPr dirty="0" sz="1100" spc="-10">
                <a:latin typeface="Tahoma"/>
                <a:cs typeface="Tahoma"/>
              </a:rPr>
              <a:t>on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examples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it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has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not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seen.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100">
              <a:latin typeface="Tahoma"/>
              <a:cs typeface="Tahoma"/>
            </a:endParaRPr>
          </a:p>
          <a:p>
            <a:pPr marL="12700" marR="466725">
              <a:lnSpc>
                <a:spcPct val="102600"/>
              </a:lnSpc>
            </a:pPr>
            <a:r>
              <a:rPr dirty="0" sz="1100" spc="-10">
                <a:latin typeface="Tahoma"/>
                <a:cs typeface="Tahoma"/>
              </a:rPr>
              <a:t>Marks</a:t>
            </a:r>
            <a:r>
              <a:rPr dirty="0" sz="1100" spc="-7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may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increase </a:t>
            </a:r>
            <a:r>
              <a:rPr dirty="0" sz="1100" spc="-20">
                <a:latin typeface="Tahoma"/>
                <a:cs typeface="Tahoma"/>
              </a:rPr>
              <a:t>quickly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at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first,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then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level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off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after</a:t>
            </a:r>
            <a:r>
              <a:rPr dirty="0" sz="1100" spc="-45">
                <a:latin typeface="Tahoma"/>
                <a:cs typeface="Tahoma"/>
              </a:rPr>
              <a:t> many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hours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study.</a:t>
            </a:r>
            <a:r>
              <a:rPr dirty="0" sz="1100" spc="6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Would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one </a:t>
            </a:r>
            <a:r>
              <a:rPr dirty="0" sz="1100" spc="-20">
                <a:latin typeface="Tahoma"/>
                <a:cs typeface="Tahoma"/>
              </a:rPr>
              <a:t>straight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line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capture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this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perfectly?</a:t>
            </a:r>
            <a:endParaRPr sz="1100">
              <a:latin typeface="Tahoma"/>
              <a:cs typeface="Tahoma"/>
            </a:endParaRPr>
          </a:p>
          <a:p>
            <a:pPr marL="12700" marR="186055">
              <a:lnSpc>
                <a:spcPct val="102600"/>
              </a:lnSpc>
              <a:spcBef>
                <a:spcPts val="960"/>
              </a:spcBef>
            </a:pPr>
            <a:r>
              <a:rPr dirty="0" sz="1100" spc="55">
                <a:latin typeface="Tahoma"/>
                <a:cs typeface="Tahoma"/>
              </a:rPr>
              <a:t>A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linear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model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useful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when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it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approximates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pattern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well.</a:t>
            </a:r>
            <a:r>
              <a:rPr dirty="0" sz="1100" spc="8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If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it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does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not,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90">
                <a:latin typeface="Tahoma"/>
                <a:cs typeface="Tahoma"/>
              </a:rPr>
              <a:t>we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may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need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a </a:t>
            </a:r>
            <a:r>
              <a:rPr dirty="0" sz="1100" spc="-35">
                <a:latin typeface="Tahoma"/>
                <a:cs typeface="Tahoma"/>
              </a:rPr>
              <a:t>different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model </a:t>
            </a:r>
            <a:r>
              <a:rPr dirty="0" sz="1100" spc="-20">
                <a:latin typeface="Tahoma"/>
                <a:cs typeface="Tahoma"/>
              </a:rPr>
              <a:t>or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additional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features.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3505">
              <a:lnSpc>
                <a:spcPts val="675"/>
              </a:lnSpc>
            </a:pPr>
            <a:fld id="{81D60167-4931-47E6-BA6A-407CBD079E47}" type="slidenum">
              <a:rPr dirty="0" spc="-10"/>
              <a:t>5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0"/>
              <a:t>How</a:t>
            </a:r>
            <a:r>
              <a:rPr dirty="0" spc="-65"/>
              <a:t> </a:t>
            </a:r>
            <a:r>
              <a:rPr dirty="0" spc="-50"/>
              <a:t>wrong</a:t>
            </a:r>
            <a:r>
              <a:rPr dirty="0" spc="-60"/>
              <a:t> </a:t>
            </a:r>
            <a:r>
              <a:rPr dirty="0"/>
              <a:t>is</a:t>
            </a:r>
            <a:r>
              <a:rPr dirty="0" spc="-60"/>
              <a:t> </a:t>
            </a:r>
            <a:r>
              <a:rPr dirty="0" spc="-10"/>
              <a:t>our</a:t>
            </a:r>
            <a:r>
              <a:rPr dirty="0" spc="-60"/>
              <a:t> </a:t>
            </a:r>
            <a:r>
              <a:rPr dirty="0" spc="-30"/>
              <a:t>prediction?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405585"/>
            <a:ext cx="4059554" cy="75692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547495" algn="l"/>
              </a:tabLst>
            </a:pPr>
            <a:r>
              <a:rPr dirty="0" sz="1100">
                <a:latin typeface="Tahoma"/>
                <a:cs typeface="Tahoma"/>
              </a:rPr>
              <a:t>Actual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mark:</a:t>
            </a:r>
            <a:r>
              <a:rPr dirty="0" sz="1100" spc="8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y</a:t>
            </a:r>
            <a:r>
              <a:rPr dirty="0" sz="1100" spc="7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7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50</a:t>
            </a:r>
            <a:r>
              <a:rPr dirty="0" sz="1100">
                <a:latin typeface="Tahoma"/>
                <a:cs typeface="Tahoma"/>
              </a:rPr>
              <a:t>	</a:t>
            </a:r>
            <a:r>
              <a:rPr dirty="0" sz="1100" spc="-20">
                <a:latin typeface="Tahoma"/>
                <a:cs typeface="Tahoma"/>
              </a:rPr>
              <a:t>Predicted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mark:</a:t>
            </a:r>
            <a:r>
              <a:rPr dirty="0" sz="1100" spc="95">
                <a:latin typeface="Tahoma"/>
                <a:cs typeface="Tahoma"/>
              </a:rPr>
              <a:t> </a:t>
            </a:r>
            <a:r>
              <a:rPr dirty="0" sz="1100" spc="-270" i="1">
                <a:latin typeface="Arial"/>
                <a:cs typeface="Arial"/>
              </a:rPr>
              <a:t>y</a:t>
            </a:r>
            <a:r>
              <a:rPr dirty="0" sz="1100" spc="-270">
                <a:latin typeface="Tahoma"/>
                <a:cs typeface="Tahoma"/>
              </a:rPr>
              <a:t>ˆ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7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45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100">
              <a:latin typeface="Tahoma"/>
              <a:cs typeface="Tahoma"/>
            </a:endParaRPr>
          </a:p>
          <a:p>
            <a:pPr marL="1910080">
              <a:lnSpc>
                <a:spcPct val="100000"/>
              </a:lnSpc>
            </a:pPr>
            <a:r>
              <a:rPr dirty="0" sz="1100" spc="-25">
                <a:latin typeface="Tahoma"/>
                <a:cs typeface="Tahoma"/>
              </a:rPr>
              <a:t>Error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y</a:t>
            </a:r>
            <a:r>
              <a:rPr dirty="0" sz="1100" spc="60" i="1">
                <a:latin typeface="Arial"/>
                <a:cs typeface="Arial"/>
              </a:rPr>
              <a:t> </a:t>
            </a:r>
            <a:r>
              <a:rPr dirty="0" sz="1100" spc="320" i="1">
                <a:latin typeface="Arial Narrow"/>
                <a:cs typeface="Arial Narrow"/>
              </a:rPr>
              <a:t>−</a:t>
            </a:r>
            <a:r>
              <a:rPr dirty="0" sz="1100" spc="-5" i="1">
                <a:latin typeface="Arial Narrow"/>
                <a:cs typeface="Arial Narrow"/>
              </a:rPr>
              <a:t> </a:t>
            </a:r>
            <a:r>
              <a:rPr dirty="0" sz="1100" spc="-270" i="1">
                <a:latin typeface="Arial"/>
                <a:cs typeface="Arial"/>
              </a:rPr>
              <a:t>y</a:t>
            </a:r>
            <a:r>
              <a:rPr dirty="0" sz="1100" spc="-270">
                <a:latin typeface="Tahoma"/>
                <a:cs typeface="Tahoma"/>
              </a:rPr>
              <a:t>ˆ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50</a:t>
            </a:r>
            <a:r>
              <a:rPr dirty="0" sz="1100" spc="-100">
                <a:latin typeface="Tahoma"/>
                <a:cs typeface="Tahoma"/>
              </a:rPr>
              <a:t> </a:t>
            </a:r>
            <a:r>
              <a:rPr dirty="0" sz="1100" spc="320" i="1">
                <a:latin typeface="Arial Narrow"/>
                <a:cs typeface="Arial Narrow"/>
              </a:rPr>
              <a:t>−</a:t>
            </a:r>
            <a:r>
              <a:rPr dirty="0" sz="1100" spc="-5" i="1">
                <a:latin typeface="Arial Narrow"/>
                <a:cs typeface="Arial Narrow"/>
              </a:rPr>
              <a:t> </a:t>
            </a:r>
            <a:r>
              <a:rPr dirty="0" sz="1100" spc="-65">
                <a:latin typeface="Tahoma"/>
                <a:cs typeface="Tahoma"/>
              </a:rPr>
              <a:t>45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5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1100" spc="55">
                <a:latin typeface="Tahoma"/>
                <a:cs typeface="Tahoma"/>
              </a:rPr>
              <a:t>A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common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loss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for</a:t>
            </a:r>
            <a:r>
              <a:rPr dirty="0" sz="1100" spc="-30">
                <a:latin typeface="Tahoma"/>
                <a:cs typeface="Tahoma"/>
              </a:rPr>
              <a:t> linear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regression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b="1">
                <a:latin typeface="Gill Sans MT"/>
                <a:cs typeface="Gill Sans MT"/>
              </a:rPr>
              <a:t>Mean</a:t>
            </a:r>
            <a:r>
              <a:rPr dirty="0" sz="1100" spc="40" b="1">
                <a:latin typeface="Gill Sans MT"/>
                <a:cs typeface="Gill Sans MT"/>
              </a:rPr>
              <a:t> </a:t>
            </a:r>
            <a:r>
              <a:rPr dirty="0" sz="1100" spc="-30" b="1">
                <a:latin typeface="Gill Sans MT"/>
                <a:cs typeface="Gill Sans MT"/>
              </a:rPr>
              <a:t>Squared</a:t>
            </a:r>
            <a:r>
              <a:rPr dirty="0" sz="1100" spc="35" b="1">
                <a:latin typeface="Gill Sans MT"/>
                <a:cs typeface="Gill Sans MT"/>
              </a:rPr>
              <a:t> </a:t>
            </a:r>
            <a:r>
              <a:rPr dirty="0" sz="1100" spc="-50" b="1">
                <a:latin typeface="Gill Sans MT"/>
                <a:cs typeface="Gill Sans MT"/>
              </a:rPr>
              <a:t>Error</a:t>
            </a:r>
            <a:r>
              <a:rPr dirty="0" sz="1100" spc="45" b="1">
                <a:latin typeface="Gill Sans MT"/>
                <a:cs typeface="Gill Sans MT"/>
              </a:rPr>
              <a:t> </a:t>
            </a:r>
            <a:r>
              <a:rPr dirty="0" sz="1100" spc="-10" b="1">
                <a:latin typeface="Gill Sans MT"/>
                <a:cs typeface="Gill Sans MT"/>
              </a:rPr>
              <a:t>(MSE)</a:t>
            </a:r>
            <a:r>
              <a:rPr dirty="0" sz="1100" spc="-10">
                <a:latin typeface="Tahoma"/>
                <a:cs typeface="Tahoma"/>
              </a:rPr>
              <a:t>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87536" y="1430386"/>
            <a:ext cx="4699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14">
                <a:latin typeface="Calibri"/>
                <a:cs typeface="Calibri"/>
              </a:rPr>
              <a:t>MSE</a:t>
            </a:r>
            <a:r>
              <a:rPr dirty="0" sz="1100" spc="65">
                <a:latin typeface="Calibri"/>
                <a:cs typeface="Calibri"/>
              </a:rPr>
              <a:t> </a:t>
            </a:r>
            <a:r>
              <a:rPr dirty="0" sz="1100" spc="-5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85707" y="1314155"/>
            <a:ext cx="97155" cy="40322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4604">
              <a:lnSpc>
                <a:spcPct val="100000"/>
              </a:lnSpc>
              <a:spcBef>
                <a:spcPts val="265"/>
              </a:spcBef>
            </a:pPr>
            <a:r>
              <a:rPr dirty="0" u="sng" sz="1100" spc="-5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1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1100" spc="-50" i="1">
                <a:latin typeface="Arial"/>
                <a:cs typeface="Arial"/>
              </a:rPr>
              <a:t>n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69476" y="1294522"/>
            <a:ext cx="8128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 i="1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98025" y="1298764"/>
            <a:ext cx="2260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844">
                <a:latin typeface="Arial"/>
                <a:cs typeface="Arial"/>
              </a:rPr>
              <a:t>Σ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72739" y="1430386"/>
            <a:ext cx="5651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Arial"/>
                <a:cs typeface="Arial"/>
              </a:rPr>
              <a:t>y</a:t>
            </a:r>
            <a:r>
              <a:rPr dirty="0" baseline="-10416" sz="1200" i="1">
                <a:latin typeface="Arial"/>
                <a:cs typeface="Arial"/>
              </a:rPr>
              <a:t>i</a:t>
            </a:r>
            <a:r>
              <a:rPr dirty="0" baseline="-10416" sz="1200" spc="195" i="1">
                <a:latin typeface="Arial"/>
                <a:cs typeface="Arial"/>
              </a:rPr>
              <a:t> </a:t>
            </a:r>
            <a:r>
              <a:rPr dirty="0" sz="1100" spc="320" i="1">
                <a:latin typeface="Arial Narrow"/>
                <a:cs typeface="Arial Narrow"/>
              </a:rPr>
              <a:t>−</a:t>
            </a:r>
            <a:r>
              <a:rPr dirty="0" sz="1100" spc="-20" i="1">
                <a:latin typeface="Arial Narrow"/>
                <a:cs typeface="Arial Narrow"/>
              </a:rPr>
              <a:t> </a:t>
            </a:r>
            <a:r>
              <a:rPr dirty="0" sz="1100" spc="-229" i="1">
                <a:latin typeface="Arial"/>
                <a:cs typeface="Arial"/>
              </a:rPr>
              <a:t>y</a:t>
            </a:r>
            <a:r>
              <a:rPr dirty="0" sz="1100" spc="-229">
                <a:latin typeface="Tahoma"/>
                <a:cs typeface="Tahoma"/>
              </a:rPr>
              <a:t>ˆ</a:t>
            </a:r>
            <a:r>
              <a:rPr dirty="0" baseline="-10416" sz="1200" spc="-345" i="1">
                <a:latin typeface="Arial"/>
                <a:cs typeface="Arial"/>
              </a:rPr>
              <a:t>i</a:t>
            </a:r>
            <a:r>
              <a:rPr dirty="0" baseline="-10416" sz="1200" spc="-142" i="1">
                <a:latin typeface="Arial"/>
                <a:cs typeface="Arial"/>
              </a:rPr>
              <a:t> </a:t>
            </a:r>
            <a:r>
              <a:rPr dirty="0" sz="1100" spc="-5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86962" y="1410498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latin typeface="Tahoma"/>
                <a:cs typeface="Tahoma"/>
              </a:rPr>
              <a:t>2</a:t>
            </a:r>
            <a:endParaRPr sz="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11538" y="1636368"/>
            <a:ext cx="19875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i="1">
                <a:latin typeface="Arial"/>
                <a:cs typeface="Arial"/>
              </a:rPr>
              <a:t>i</a:t>
            </a:r>
            <a:r>
              <a:rPr dirty="0" sz="800" spc="-120" i="1">
                <a:latin typeface="Arial"/>
                <a:cs typeface="Arial"/>
              </a:rPr>
              <a:t> </a:t>
            </a:r>
            <a:r>
              <a:rPr dirty="0" sz="800" spc="-25">
                <a:latin typeface="Tahoma"/>
                <a:cs typeface="Tahoma"/>
              </a:rPr>
              <a:t>=1</a:t>
            </a:r>
            <a:endParaRPr sz="8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157209" y="1306588"/>
            <a:ext cx="1445895" cy="501015"/>
            <a:chOff x="2157209" y="1306588"/>
            <a:chExt cx="1445895" cy="501015"/>
          </a:xfrm>
        </p:grpSpPr>
        <p:sp>
          <p:nvSpPr>
            <p:cNvPr id="12" name="object 12"/>
            <p:cNvSpPr/>
            <p:nvPr/>
          </p:nvSpPr>
          <p:spPr>
            <a:xfrm>
              <a:off x="2157209" y="1309115"/>
              <a:ext cx="1445895" cy="0"/>
            </a:xfrm>
            <a:custGeom>
              <a:avLst/>
              <a:gdLst/>
              <a:ahLst/>
              <a:cxnLst/>
              <a:rect l="l" t="t" r="r" b="b"/>
              <a:pathLst>
                <a:path w="1445895" h="0">
                  <a:moveTo>
                    <a:pt x="0" y="0"/>
                  </a:moveTo>
                  <a:lnTo>
                    <a:pt x="1445564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159749" y="1309115"/>
              <a:ext cx="0" cy="495934"/>
            </a:xfrm>
            <a:custGeom>
              <a:avLst/>
              <a:gdLst/>
              <a:ahLst/>
              <a:cxnLst/>
              <a:rect l="l" t="t" r="r" b="b"/>
              <a:pathLst>
                <a:path w="0" h="495935">
                  <a:moveTo>
                    <a:pt x="0" y="495515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600259" y="1309115"/>
              <a:ext cx="0" cy="495934"/>
            </a:xfrm>
            <a:custGeom>
              <a:avLst/>
              <a:gdLst/>
              <a:ahLst/>
              <a:cxnLst/>
              <a:rect l="l" t="t" r="r" b="b"/>
              <a:pathLst>
                <a:path w="0" h="495935">
                  <a:moveTo>
                    <a:pt x="0" y="495515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157209" y="1804631"/>
              <a:ext cx="1445895" cy="0"/>
            </a:xfrm>
            <a:custGeom>
              <a:avLst/>
              <a:gdLst/>
              <a:ahLst/>
              <a:cxnLst/>
              <a:rect l="l" t="t" r="r" b="b"/>
              <a:pathLst>
                <a:path w="1445895" h="0">
                  <a:moveTo>
                    <a:pt x="0" y="0"/>
                  </a:moveTo>
                  <a:lnTo>
                    <a:pt x="1445564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907120"/>
            <a:ext cx="65265" cy="65265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2083714"/>
            <a:ext cx="65265" cy="65265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2260320"/>
            <a:ext cx="65265" cy="65265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436914"/>
            <a:ext cx="65265" cy="65265"/>
          </a:xfrm>
          <a:prstGeom prst="rect">
            <a:avLst/>
          </a:prstGeom>
        </p:spPr>
      </p:pic>
      <p:sp>
        <p:nvSpPr>
          <p:cNvPr id="20" name="object 20"/>
          <p:cNvSpPr/>
          <p:nvPr/>
        </p:nvSpPr>
        <p:spPr>
          <a:xfrm>
            <a:off x="87743" y="2620720"/>
            <a:ext cx="5584825" cy="198755"/>
          </a:xfrm>
          <a:custGeom>
            <a:avLst/>
            <a:gdLst/>
            <a:ahLst/>
            <a:cxnLst/>
            <a:rect l="l" t="t" r="r" b="b"/>
            <a:pathLst>
              <a:path w="5584825" h="198755">
                <a:moveTo>
                  <a:pt x="553377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5584580" y="198367"/>
                </a:lnTo>
                <a:lnTo>
                  <a:pt x="5584580" y="50800"/>
                </a:lnTo>
                <a:lnTo>
                  <a:pt x="5580571" y="31075"/>
                </a:lnTo>
                <a:lnTo>
                  <a:pt x="5569657" y="14922"/>
                </a:lnTo>
                <a:lnTo>
                  <a:pt x="5553504" y="4008"/>
                </a:lnTo>
                <a:lnTo>
                  <a:pt x="5533779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138544" y="2649168"/>
            <a:ext cx="923290" cy="1536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45"/>
              </a:lnSpc>
            </a:pPr>
            <a:r>
              <a:rPr dirty="0" sz="1200" spc="-20">
                <a:solidFill>
                  <a:srgbClr val="FFFFFF"/>
                </a:solidFill>
                <a:latin typeface="Tahoma"/>
                <a:cs typeface="Tahoma"/>
              </a:rPr>
              <a:t>Quick</a:t>
            </a:r>
            <a:r>
              <a:rPr dirty="0" sz="1200" spc="-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60">
                <a:solidFill>
                  <a:srgbClr val="FFFFFF"/>
                </a:solidFill>
                <a:latin typeface="Tahoma"/>
                <a:cs typeface="Tahoma"/>
              </a:rPr>
              <a:t>question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87743" y="2677646"/>
            <a:ext cx="5635625" cy="417195"/>
            <a:chOff x="87743" y="2677646"/>
            <a:chExt cx="5635625" cy="417195"/>
          </a:xfrm>
        </p:grpSpPr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743" y="2806433"/>
              <a:ext cx="5584580" cy="5060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544" y="2677646"/>
              <a:ext cx="5584825" cy="417195"/>
            </a:xfrm>
            <a:custGeom>
              <a:avLst/>
              <a:gdLst/>
              <a:ahLst/>
              <a:cxnLst/>
              <a:rect l="l" t="t" r="r" b="b"/>
              <a:pathLst>
                <a:path w="5584825" h="417194">
                  <a:moveTo>
                    <a:pt x="5584580" y="0"/>
                  </a:moveTo>
                  <a:lnTo>
                    <a:pt x="0" y="0"/>
                  </a:lnTo>
                  <a:lnTo>
                    <a:pt x="0" y="416747"/>
                  </a:lnTo>
                  <a:lnTo>
                    <a:pt x="5584580" y="416747"/>
                  </a:lnTo>
                  <a:lnTo>
                    <a:pt x="55845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87743" y="2850708"/>
              <a:ext cx="5584825" cy="193040"/>
            </a:xfrm>
            <a:custGeom>
              <a:avLst/>
              <a:gdLst/>
              <a:ahLst/>
              <a:cxnLst/>
              <a:rect l="l" t="t" r="r" b="b"/>
              <a:pathLst>
                <a:path w="5584825" h="193039">
                  <a:moveTo>
                    <a:pt x="5584580" y="0"/>
                  </a:moveTo>
                  <a:lnTo>
                    <a:pt x="0" y="0"/>
                  </a:lnTo>
                  <a:lnTo>
                    <a:pt x="0" y="142084"/>
                  </a:lnTo>
                  <a:lnTo>
                    <a:pt x="4008" y="161809"/>
                  </a:lnTo>
                  <a:lnTo>
                    <a:pt x="14922" y="177962"/>
                  </a:lnTo>
                  <a:lnTo>
                    <a:pt x="31075" y="188876"/>
                  </a:lnTo>
                  <a:lnTo>
                    <a:pt x="50800" y="192885"/>
                  </a:lnTo>
                  <a:lnTo>
                    <a:pt x="5533779" y="192885"/>
                  </a:lnTo>
                  <a:lnTo>
                    <a:pt x="5553504" y="188876"/>
                  </a:lnTo>
                  <a:lnTo>
                    <a:pt x="5569657" y="177962"/>
                  </a:lnTo>
                  <a:lnTo>
                    <a:pt x="5580571" y="161809"/>
                  </a:lnTo>
                  <a:lnTo>
                    <a:pt x="5584580" y="142084"/>
                  </a:lnTo>
                  <a:lnTo>
                    <a:pt x="5584580" y="0"/>
                  </a:lnTo>
                  <a:close/>
                </a:path>
              </a:pathLst>
            </a:custGeom>
            <a:solidFill>
              <a:srgbClr val="F8E5E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138544" y="1813316"/>
            <a:ext cx="5584825" cy="1199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6860" marR="3492500">
              <a:lnSpc>
                <a:spcPct val="105300"/>
              </a:lnSpc>
              <a:spcBef>
                <a:spcPts val="100"/>
              </a:spcBef>
            </a:pPr>
            <a:r>
              <a:rPr dirty="0" sz="1100" spc="-20">
                <a:latin typeface="Tahoma"/>
                <a:cs typeface="Tahoma"/>
              </a:rPr>
              <a:t>Calculate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each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prediction </a:t>
            </a:r>
            <a:r>
              <a:rPr dirty="0" sz="1100" spc="-55">
                <a:latin typeface="Tahoma"/>
                <a:cs typeface="Tahoma"/>
              </a:rPr>
              <a:t>error. </a:t>
            </a:r>
            <a:r>
              <a:rPr dirty="0" sz="1100" spc="-45">
                <a:latin typeface="Tahoma"/>
                <a:cs typeface="Tahoma"/>
              </a:rPr>
              <a:t>Square </a:t>
            </a:r>
            <a:r>
              <a:rPr dirty="0" sz="1100" spc="-40">
                <a:latin typeface="Tahoma"/>
                <a:cs typeface="Tahoma"/>
              </a:rPr>
              <a:t>each </a:t>
            </a:r>
            <a:r>
              <a:rPr dirty="0" sz="1100" spc="-10">
                <a:latin typeface="Tahoma"/>
                <a:cs typeface="Tahoma"/>
              </a:rPr>
              <a:t>error.</a:t>
            </a:r>
            <a:endParaRPr sz="1100">
              <a:latin typeface="Tahoma"/>
              <a:cs typeface="Tahoma"/>
            </a:endParaRPr>
          </a:p>
          <a:p>
            <a:pPr marL="276860">
              <a:lnSpc>
                <a:spcPct val="100000"/>
              </a:lnSpc>
              <a:spcBef>
                <a:spcPts val="70"/>
              </a:spcBef>
            </a:pPr>
            <a:r>
              <a:rPr dirty="0" sz="1100" spc="-35">
                <a:latin typeface="Tahoma"/>
                <a:cs typeface="Tahoma"/>
              </a:rPr>
              <a:t>Average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7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squared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errors.</a:t>
            </a:r>
            <a:endParaRPr sz="1100">
              <a:latin typeface="Tahoma"/>
              <a:cs typeface="Tahoma"/>
            </a:endParaRPr>
          </a:p>
          <a:p>
            <a:pPr marL="276860">
              <a:lnSpc>
                <a:spcPct val="100000"/>
              </a:lnSpc>
              <a:spcBef>
                <a:spcPts val="70"/>
              </a:spcBef>
            </a:pPr>
            <a:r>
              <a:rPr dirty="0" sz="1100" spc="-45">
                <a:latin typeface="Tahoma"/>
                <a:cs typeface="Tahoma"/>
              </a:rPr>
              <a:t>Lower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MSE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65">
                <a:latin typeface="Tahoma"/>
                <a:cs typeface="Tahoma"/>
              </a:rPr>
              <a:t>means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smaller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squared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errors</a:t>
            </a:r>
            <a:r>
              <a:rPr dirty="0" sz="1100" spc="-10">
                <a:latin typeface="Tahoma"/>
                <a:cs typeface="Tahoma"/>
              </a:rPr>
              <a:t> on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average.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35"/>
              </a:spcBef>
            </a:pP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r>
              <a:rPr dirty="0" sz="1100">
                <a:latin typeface="Tahoma"/>
                <a:cs typeface="Tahoma"/>
              </a:rPr>
              <a:t>Why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65">
                <a:latin typeface="Tahoma"/>
                <a:cs typeface="Tahoma"/>
              </a:rPr>
              <a:t>square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error</a:t>
            </a:r>
            <a:r>
              <a:rPr dirty="0" sz="1100" spc="-30">
                <a:latin typeface="Tahoma"/>
                <a:cs typeface="Tahoma"/>
              </a:rPr>
              <a:t> instead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simply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adding </a:t>
            </a:r>
            <a:r>
              <a:rPr dirty="0" sz="1100" spc="-55">
                <a:latin typeface="Tahoma"/>
                <a:cs typeface="Tahoma"/>
              </a:rPr>
              <a:t>signed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errors?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478424" y="3125241"/>
            <a:ext cx="21399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 spc="-10">
                <a:latin typeface="Tahoma"/>
                <a:cs typeface="Tahoma"/>
              </a:rPr>
              <a:t>6</a:t>
            </a:r>
            <a:r>
              <a:rPr dirty="0" sz="600" spc="-85">
                <a:latin typeface="Tahoma"/>
                <a:cs typeface="Tahoma"/>
              </a:rPr>
              <a:t> </a:t>
            </a:r>
            <a:r>
              <a:rPr dirty="0" sz="600" spc="90">
                <a:latin typeface="Tahoma"/>
                <a:cs typeface="Tahoma"/>
              </a:rPr>
              <a:t>/</a:t>
            </a:r>
            <a:r>
              <a:rPr dirty="0" sz="600" spc="-85">
                <a:latin typeface="Tahoma"/>
                <a:cs typeface="Tahoma"/>
              </a:rPr>
              <a:t> </a:t>
            </a:r>
            <a:r>
              <a:rPr dirty="0" sz="600" spc="-25">
                <a:latin typeface="Tahoma"/>
                <a:cs typeface="Tahoma"/>
              </a:rPr>
              <a:t>18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59877"/>
            <a:ext cx="2091689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Try</a:t>
            </a:r>
            <a:r>
              <a:rPr dirty="0" spc="-30"/>
              <a:t> </a:t>
            </a:r>
            <a:r>
              <a:rPr dirty="0"/>
              <a:t>it:</a:t>
            </a:r>
            <a:r>
              <a:rPr dirty="0" spc="110"/>
              <a:t> </a:t>
            </a:r>
            <a:r>
              <a:rPr dirty="0" spc="-65"/>
              <a:t>compare</a:t>
            </a:r>
            <a:r>
              <a:rPr dirty="0" spc="-25"/>
              <a:t> </a:t>
            </a:r>
            <a:r>
              <a:rPr dirty="0" spc="-35"/>
              <a:t>two</a:t>
            </a:r>
            <a:r>
              <a:rPr dirty="0" spc="-25"/>
              <a:t> </a:t>
            </a:r>
            <a:r>
              <a:rPr dirty="0" spc="-40"/>
              <a:t>models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649984"/>
            <a:ext cx="30118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latin typeface="Tahoma"/>
                <a:cs typeface="Tahoma"/>
              </a:rPr>
              <a:t>For</a:t>
            </a:r>
            <a:r>
              <a:rPr dirty="0" sz="1100" spc="-6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three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examples,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actual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marks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are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20</a:t>
            </a:r>
            <a:r>
              <a:rPr dirty="0" sz="1100" spc="-40" i="1">
                <a:latin typeface="Calibri"/>
                <a:cs typeface="Calibri"/>
              </a:rPr>
              <a:t>,</a:t>
            </a:r>
            <a:r>
              <a:rPr dirty="0" sz="1100" spc="-70" i="1">
                <a:latin typeface="Calibri"/>
                <a:cs typeface="Calibri"/>
              </a:rPr>
              <a:t> </a:t>
            </a:r>
            <a:r>
              <a:rPr dirty="0" sz="1100" spc="-40">
                <a:latin typeface="Tahoma"/>
                <a:cs typeface="Tahoma"/>
              </a:rPr>
              <a:t>30</a:t>
            </a:r>
            <a:r>
              <a:rPr dirty="0" sz="1100" spc="-40" i="1">
                <a:latin typeface="Calibri"/>
                <a:cs typeface="Calibri"/>
              </a:rPr>
              <a:t>,</a:t>
            </a:r>
            <a:r>
              <a:rPr dirty="0" sz="1100" spc="-70" i="1">
                <a:latin typeface="Calibri"/>
                <a:cs typeface="Calibri"/>
              </a:rPr>
              <a:t> </a:t>
            </a:r>
            <a:r>
              <a:rPr dirty="0" sz="1100" spc="-25">
                <a:latin typeface="Tahoma"/>
                <a:cs typeface="Tahoma"/>
              </a:rPr>
              <a:t>40.</a:t>
            </a:r>
            <a:endParaRPr sz="1100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271117" y="960234"/>
          <a:ext cx="3294379" cy="6623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2445"/>
                <a:gridCol w="791845"/>
                <a:gridCol w="982980"/>
                <a:gridCol w="929005"/>
              </a:tblGrid>
              <a:tr h="2451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1100" spc="-10">
                          <a:latin typeface="Tahoma"/>
                          <a:cs typeface="Tahoma"/>
                        </a:rPr>
                        <a:t>Model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26034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1100" spc="-10">
                          <a:latin typeface="Tahoma"/>
                          <a:cs typeface="Tahoma"/>
                        </a:rPr>
                        <a:t>Predictions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26034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1100" spc="-45">
                          <a:latin typeface="Tahoma"/>
                          <a:cs typeface="Tahoma"/>
                        </a:rPr>
                        <a:t>Squared</a:t>
                      </a:r>
                      <a:r>
                        <a:rPr dirty="0" sz="1100" spc="-4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00" spc="-10">
                          <a:latin typeface="Tahoma"/>
                          <a:cs typeface="Tahoma"/>
                        </a:rPr>
                        <a:t>errors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26034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1100" spc="-25">
                          <a:latin typeface="Tahoma"/>
                          <a:cs typeface="Tahoma"/>
                        </a:rPr>
                        <a:t>MSE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26034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20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100" spc="5">
                          <a:latin typeface="Tahoma"/>
                          <a:cs typeface="Tahoma"/>
                        </a:rPr>
                        <a:t>A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2413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100" spc="-40">
                          <a:latin typeface="Tahoma"/>
                          <a:cs typeface="Tahoma"/>
                        </a:rPr>
                        <a:t>20</a:t>
                      </a:r>
                      <a:r>
                        <a:rPr dirty="0" sz="1100" spc="-40" i="1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1100" spc="-50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40">
                          <a:latin typeface="Tahoma"/>
                          <a:cs typeface="Tahoma"/>
                        </a:rPr>
                        <a:t>30</a:t>
                      </a:r>
                      <a:r>
                        <a:rPr dirty="0" sz="1100" spc="-40" i="1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1100" spc="-45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35">
                          <a:latin typeface="Tahoma"/>
                          <a:cs typeface="Tahoma"/>
                        </a:rPr>
                        <a:t>40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2413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100" spc="-25">
                          <a:latin typeface="Tahoma"/>
                          <a:cs typeface="Tahoma"/>
                        </a:rPr>
                        <a:t>0</a:t>
                      </a:r>
                      <a:r>
                        <a:rPr dirty="0" sz="1100" spc="-25" i="1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1100" spc="-60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Tahoma"/>
                          <a:cs typeface="Tahoma"/>
                        </a:rPr>
                        <a:t>0</a:t>
                      </a:r>
                      <a:r>
                        <a:rPr dirty="0" sz="1100" spc="-25" i="1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1100" spc="-55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0">
                          <a:latin typeface="Tahoma"/>
                          <a:cs typeface="Tahoma"/>
                        </a:rPr>
                        <a:t>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2413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100" spc="-50">
                          <a:latin typeface="Tahoma"/>
                          <a:cs typeface="Tahoma"/>
                        </a:rPr>
                        <a:t>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2413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05104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20">
                          <a:latin typeface="Tahoma"/>
                          <a:cs typeface="Tahoma"/>
                        </a:rPr>
                        <a:t>B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ahoma"/>
                          <a:cs typeface="Tahoma"/>
                        </a:rPr>
                        <a:t>18</a:t>
                      </a:r>
                      <a:r>
                        <a:rPr dirty="0" sz="1100" spc="-40" i="1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1100" spc="-50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40">
                          <a:latin typeface="Tahoma"/>
                          <a:cs typeface="Tahoma"/>
                        </a:rPr>
                        <a:t>26</a:t>
                      </a:r>
                      <a:r>
                        <a:rPr dirty="0" sz="1100" spc="-40" i="1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1100" spc="-45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35">
                          <a:latin typeface="Tahoma"/>
                          <a:cs typeface="Tahoma"/>
                        </a:rPr>
                        <a:t>34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25">
                          <a:latin typeface="Tahoma"/>
                          <a:cs typeface="Tahoma"/>
                        </a:rPr>
                        <a:t>4</a:t>
                      </a:r>
                      <a:r>
                        <a:rPr dirty="0" sz="1100" spc="-25" i="1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1100" spc="-55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40">
                          <a:latin typeface="Tahoma"/>
                          <a:cs typeface="Tahoma"/>
                        </a:rPr>
                        <a:t>16</a:t>
                      </a:r>
                      <a:r>
                        <a:rPr dirty="0" sz="1100" spc="-40" i="1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1100" spc="-50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Tahoma"/>
                          <a:cs typeface="Tahoma"/>
                        </a:rPr>
                        <a:t>36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10">
                          <a:latin typeface="Tahoma"/>
                          <a:cs typeface="Tahoma"/>
                        </a:rPr>
                        <a:t>56</a:t>
                      </a:r>
                      <a:r>
                        <a:rPr dirty="0" sz="1100" spc="-10" i="1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100" spc="-10">
                          <a:latin typeface="Tahoma"/>
                          <a:cs typeface="Tahoma"/>
                        </a:rPr>
                        <a:t>3</a:t>
                      </a:r>
                      <a:r>
                        <a:rPr dirty="0" sz="1100" spc="-6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00" spc="245" i="1">
                          <a:latin typeface="Arial Narrow"/>
                          <a:cs typeface="Arial Narrow"/>
                        </a:rPr>
                        <a:t>≈</a:t>
                      </a:r>
                      <a:r>
                        <a:rPr dirty="0" sz="1100" spc="45" i="1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dirty="0" sz="1100" spc="-10">
                          <a:latin typeface="Tahoma"/>
                          <a:cs typeface="Tahoma"/>
                        </a:rPr>
                        <a:t>18</a:t>
                      </a:r>
                      <a:r>
                        <a:rPr dirty="0" sz="1100" spc="-10" i="1">
                          <a:latin typeface="Calibri"/>
                          <a:cs typeface="Calibri"/>
                        </a:rPr>
                        <a:t>.</a:t>
                      </a:r>
                      <a:r>
                        <a:rPr dirty="0" sz="1100" spc="-10">
                          <a:latin typeface="Tahoma"/>
                          <a:cs typeface="Tahoma"/>
                        </a:rPr>
                        <a:t>67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87743" y="1844458"/>
            <a:ext cx="5584825" cy="187960"/>
          </a:xfrm>
          <a:custGeom>
            <a:avLst/>
            <a:gdLst/>
            <a:ahLst/>
            <a:cxnLst/>
            <a:rect l="l" t="t" r="r" b="b"/>
            <a:pathLst>
              <a:path w="5584825" h="187960">
                <a:moveTo>
                  <a:pt x="553377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5584580" y="187823"/>
                </a:lnTo>
                <a:lnTo>
                  <a:pt x="5584580" y="50800"/>
                </a:lnTo>
                <a:lnTo>
                  <a:pt x="5580571" y="31075"/>
                </a:lnTo>
                <a:lnTo>
                  <a:pt x="5569657" y="14922"/>
                </a:lnTo>
                <a:lnTo>
                  <a:pt x="5553504" y="4008"/>
                </a:lnTo>
                <a:lnTo>
                  <a:pt x="5533779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38544" y="1872919"/>
            <a:ext cx="906780" cy="1536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45"/>
              </a:lnSpc>
            </a:pPr>
            <a:r>
              <a:rPr dirty="0" sz="1200">
                <a:solidFill>
                  <a:srgbClr val="FFFFFF"/>
                </a:solidFill>
                <a:latin typeface="Tahoma"/>
                <a:cs typeface="Tahoma"/>
              </a:rPr>
              <a:t>Pair</a:t>
            </a:r>
            <a:r>
              <a:rPr dirty="0" sz="1200" spc="-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70">
                <a:solidFill>
                  <a:srgbClr val="FFFFFF"/>
                </a:solidFill>
                <a:latin typeface="Tahoma"/>
                <a:cs typeface="Tahoma"/>
              </a:rPr>
              <a:t>discussion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7743" y="1901396"/>
            <a:ext cx="5635625" cy="616585"/>
            <a:chOff x="87743" y="1901396"/>
            <a:chExt cx="5635625" cy="61658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2019630"/>
              <a:ext cx="5584580" cy="5060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38544" y="1901396"/>
              <a:ext cx="5584825" cy="616585"/>
            </a:xfrm>
            <a:custGeom>
              <a:avLst/>
              <a:gdLst/>
              <a:ahLst/>
              <a:cxnLst/>
              <a:rect l="l" t="t" r="r" b="b"/>
              <a:pathLst>
                <a:path w="5584825" h="616585">
                  <a:moveTo>
                    <a:pt x="5584580" y="0"/>
                  </a:moveTo>
                  <a:lnTo>
                    <a:pt x="0" y="0"/>
                  </a:lnTo>
                  <a:lnTo>
                    <a:pt x="0" y="616239"/>
                  </a:lnTo>
                  <a:lnTo>
                    <a:pt x="5584580" y="616239"/>
                  </a:lnTo>
                  <a:lnTo>
                    <a:pt x="55845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87743" y="2063915"/>
              <a:ext cx="5584825" cy="403225"/>
            </a:xfrm>
            <a:custGeom>
              <a:avLst/>
              <a:gdLst/>
              <a:ahLst/>
              <a:cxnLst/>
              <a:rect l="l" t="t" r="r" b="b"/>
              <a:pathLst>
                <a:path w="5584825" h="403225">
                  <a:moveTo>
                    <a:pt x="5584580" y="0"/>
                  </a:moveTo>
                  <a:lnTo>
                    <a:pt x="0" y="0"/>
                  </a:lnTo>
                  <a:lnTo>
                    <a:pt x="0" y="352119"/>
                  </a:lnTo>
                  <a:lnTo>
                    <a:pt x="4008" y="371844"/>
                  </a:lnTo>
                  <a:lnTo>
                    <a:pt x="14922" y="387997"/>
                  </a:lnTo>
                  <a:lnTo>
                    <a:pt x="31075" y="398911"/>
                  </a:lnTo>
                  <a:lnTo>
                    <a:pt x="50800" y="402920"/>
                  </a:lnTo>
                  <a:lnTo>
                    <a:pt x="5533779" y="402920"/>
                  </a:lnTo>
                  <a:lnTo>
                    <a:pt x="5553504" y="398911"/>
                  </a:lnTo>
                  <a:lnTo>
                    <a:pt x="5569657" y="387997"/>
                  </a:lnTo>
                  <a:lnTo>
                    <a:pt x="5580571" y="371844"/>
                  </a:lnTo>
                  <a:lnTo>
                    <a:pt x="5584580" y="352119"/>
                  </a:lnTo>
                  <a:lnTo>
                    <a:pt x="5584580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1089" y="2117636"/>
              <a:ext cx="65265" cy="6526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1089" y="2327668"/>
              <a:ext cx="65265" cy="65265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25844" y="1990405"/>
            <a:ext cx="5597525" cy="73977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289560">
              <a:lnSpc>
                <a:spcPct val="100000"/>
              </a:lnSpc>
              <a:spcBef>
                <a:spcPts val="434"/>
              </a:spcBef>
            </a:pPr>
            <a:r>
              <a:rPr dirty="0" sz="1100">
                <a:latin typeface="Tahoma"/>
                <a:cs typeface="Tahoma"/>
              </a:rPr>
              <a:t>Which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model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fits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these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examples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better?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334"/>
              </a:spcBef>
            </a:pPr>
            <a:r>
              <a:rPr dirty="0" sz="1100" spc="-25">
                <a:latin typeface="Tahoma"/>
                <a:cs typeface="Tahoma"/>
              </a:rPr>
              <a:t>Does</a:t>
            </a:r>
            <a:r>
              <a:rPr dirty="0" sz="1100" spc="-40">
                <a:latin typeface="Tahoma"/>
                <a:cs typeface="Tahoma"/>
              </a:rPr>
              <a:t> zero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training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error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guarantee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perfect</a:t>
            </a:r>
            <a:r>
              <a:rPr dirty="0" sz="1100" spc="-35">
                <a:latin typeface="Tahoma"/>
                <a:cs typeface="Tahoma"/>
              </a:rPr>
              <a:t> predictions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for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every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future </a:t>
            </a:r>
            <a:r>
              <a:rPr dirty="0" sz="1100" spc="-10">
                <a:latin typeface="Tahoma"/>
                <a:cs typeface="Tahoma"/>
              </a:rPr>
              <a:t>student?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dirty="0" sz="1100" spc="-40" b="1">
                <a:latin typeface="Gill Sans MT"/>
                <a:cs typeface="Gill Sans MT"/>
              </a:rPr>
              <a:t>Remember:</a:t>
            </a:r>
            <a:r>
              <a:rPr dirty="0" sz="1100" spc="65" b="1">
                <a:latin typeface="Gill Sans MT"/>
                <a:cs typeface="Gill Sans MT"/>
              </a:rPr>
              <a:t> </a:t>
            </a:r>
            <a:r>
              <a:rPr dirty="0" sz="1100" spc="-20">
                <a:latin typeface="Tahoma"/>
                <a:cs typeface="Tahoma"/>
              </a:rPr>
              <a:t>training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performance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 </a:t>
            </a:r>
            <a:r>
              <a:rPr dirty="0" sz="1100" spc="-50">
                <a:latin typeface="Tahoma"/>
                <a:cs typeface="Tahoma"/>
              </a:rPr>
              <a:t>performance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on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70">
                <a:latin typeface="Tahoma"/>
                <a:cs typeface="Tahoma"/>
              </a:rPr>
              <a:t>unseen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data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are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not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same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thing.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3505">
              <a:lnSpc>
                <a:spcPts val="675"/>
              </a:lnSpc>
            </a:pPr>
            <a:fld id="{81D60167-4931-47E6-BA6A-407CBD079E47}" type="slidenum">
              <a:rPr dirty="0" spc="-10"/>
              <a:t>7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0"/>
              <a:t>How</a:t>
            </a:r>
            <a:r>
              <a:rPr dirty="0" spc="-45"/>
              <a:t> </a:t>
            </a:r>
            <a:r>
              <a:rPr dirty="0" spc="-55"/>
              <a:t>does</a:t>
            </a:r>
            <a:r>
              <a:rPr dirty="0" spc="-45"/>
              <a:t> </a:t>
            </a:r>
            <a:r>
              <a:rPr dirty="0"/>
              <a:t>a</a:t>
            </a:r>
            <a:r>
              <a:rPr dirty="0" spc="-40"/>
              <a:t> </a:t>
            </a:r>
            <a:r>
              <a:rPr dirty="0" spc="-35"/>
              <a:t>model</a:t>
            </a:r>
            <a:r>
              <a:rPr dirty="0" spc="-45"/>
              <a:t> </a:t>
            </a:r>
            <a:r>
              <a:rPr dirty="0" spc="-50"/>
              <a:t>learn</a:t>
            </a:r>
            <a:r>
              <a:rPr dirty="0" spc="-45"/>
              <a:t> </a:t>
            </a:r>
            <a:r>
              <a:rPr dirty="0"/>
              <a:t>its</a:t>
            </a:r>
            <a:r>
              <a:rPr dirty="0" spc="-40"/>
              <a:t> weights?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405585"/>
            <a:ext cx="29997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We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want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find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w</a:t>
            </a:r>
            <a:r>
              <a:rPr dirty="0" sz="1100" spc="90" i="1">
                <a:latin typeface="Arial"/>
                <a:cs typeface="Arial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sz="1100" spc="3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that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make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40">
                <a:latin typeface="Tahoma"/>
                <a:cs typeface="Tahoma"/>
              </a:rPr>
              <a:t> loss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small.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672" y="646134"/>
            <a:ext cx="114214" cy="11421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51917" y="633214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672" y="827858"/>
            <a:ext cx="114214" cy="11421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51917" y="814925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7672" y="1009570"/>
            <a:ext cx="114214" cy="11421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51917" y="996637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7672" y="1191282"/>
            <a:ext cx="114214" cy="11421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51917" y="1178349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4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7672" y="1372993"/>
            <a:ext cx="114214" cy="11421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251917" y="1360073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endParaRPr sz="6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2932" y="576564"/>
            <a:ext cx="2418080" cy="9340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78130">
              <a:lnSpc>
                <a:spcPct val="108400"/>
              </a:lnSpc>
              <a:spcBef>
                <a:spcPts val="100"/>
              </a:spcBef>
            </a:pPr>
            <a:r>
              <a:rPr dirty="0" sz="1100">
                <a:latin typeface="Tahoma"/>
                <a:cs typeface="Tahoma"/>
              </a:rPr>
              <a:t>Start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with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initial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values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for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w</a:t>
            </a:r>
            <a:r>
              <a:rPr dirty="0" sz="1100" spc="100" i="1">
                <a:latin typeface="Arial"/>
                <a:cs typeface="Arial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5" i="1">
                <a:latin typeface="Arial"/>
                <a:cs typeface="Arial"/>
              </a:rPr>
              <a:t>b</a:t>
            </a:r>
            <a:r>
              <a:rPr dirty="0" sz="1100" spc="-25">
                <a:latin typeface="Tahoma"/>
                <a:cs typeface="Tahoma"/>
              </a:rPr>
              <a:t>. </a:t>
            </a:r>
            <a:r>
              <a:rPr dirty="0" sz="1100">
                <a:latin typeface="Tahoma"/>
                <a:cs typeface="Tahoma"/>
              </a:rPr>
              <a:t>Make</a:t>
            </a:r>
            <a:r>
              <a:rPr dirty="0" sz="1100" spc="-8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predictions.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00" spc="-20">
                <a:latin typeface="Tahoma"/>
                <a:cs typeface="Tahoma"/>
              </a:rPr>
              <a:t>Calculate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loss.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8400"/>
              </a:lnSpc>
            </a:pPr>
            <a:r>
              <a:rPr dirty="0" sz="1100" spc="-10">
                <a:latin typeface="Tahoma"/>
                <a:cs typeface="Tahoma"/>
              </a:rPr>
              <a:t>Adjust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parameters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reduce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loss. </a:t>
            </a:r>
            <a:r>
              <a:rPr dirty="0" sz="1100" spc="-10">
                <a:latin typeface="Tahoma"/>
                <a:cs typeface="Tahoma"/>
              </a:rPr>
              <a:t>Repeat.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5844" y="1505316"/>
            <a:ext cx="23526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This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process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can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65">
                <a:latin typeface="Tahoma"/>
                <a:cs typeface="Tahoma"/>
              </a:rPr>
              <a:t>use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25" b="1">
                <a:latin typeface="Gill Sans MT"/>
                <a:cs typeface="Gill Sans MT"/>
              </a:rPr>
              <a:t>gradient</a:t>
            </a:r>
            <a:r>
              <a:rPr dirty="0" sz="1100" spc="55" b="1">
                <a:latin typeface="Gill Sans MT"/>
                <a:cs typeface="Gill Sans MT"/>
              </a:rPr>
              <a:t> </a:t>
            </a:r>
            <a:r>
              <a:rPr dirty="0" sz="1100" spc="-30" b="1">
                <a:latin typeface="Gill Sans MT"/>
                <a:cs typeface="Gill Sans MT"/>
              </a:rPr>
              <a:t>descent</a:t>
            </a:r>
            <a:r>
              <a:rPr dirty="0" sz="1100" spc="-30">
                <a:latin typeface="Tahoma"/>
                <a:cs typeface="Tahoma"/>
              </a:rPr>
              <a:t>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42995" y="1829268"/>
            <a:ext cx="1695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100" spc="-25" i="1">
                <a:latin typeface="Calibri"/>
                <a:cs typeface="Calibri"/>
              </a:rPr>
              <a:t>∂</a:t>
            </a:r>
            <a:r>
              <a:rPr dirty="0" sz="1100" spc="-25" i="1">
                <a:latin typeface="Arial"/>
                <a:cs typeface="Arial"/>
              </a:rPr>
              <a:t>L</a:t>
            </a:r>
            <a:endParaRPr sz="11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242995" y="2039607"/>
            <a:ext cx="156845" cy="0"/>
          </a:xfrm>
          <a:custGeom>
            <a:avLst/>
            <a:gdLst/>
            <a:ahLst/>
            <a:cxnLst/>
            <a:rect l="l" t="t" r="r" b="b"/>
            <a:pathLst>
              <a:path w="156845" h="0">
                <a:moveTo>
                  <a:pt x="0" y="0"/>
                </a:moveTo>
                <a:lnTo>
                  <a:pt x="15629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2320112" y="1945575"/>
            <a:ext cx="11106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dirty="0" baseline="10101" sz="1650" spc="-37" i="1">
                <a:latin typeface="Calibri"/>
                <a:cs typeface="Calibri"/>
              </a:rPr>
              <a:t>θ</a:t>
            </a:r>
            <a:r>
              <a:rPr dirty="0" sz="800" spc="-25">
                <a:latin typeface="Tahoma"/>
                <a:cs typeface="Tahoma"/>
              </a:rPr>
              <a:t>new</a:t>
            </a:r>
            <a:r>
              <a:rPr dirty="0" sz="800" spc="50">
                <a:latin typeface="Tahoma"/>
                <a:cs typeface="Tahoma"/>
              </a:rPr>
              <a:t> </a:t>
            </a:r>
            <a:r>
              <a:rPr dirty="0" baseline="10101" sz="1650">
                <a:latin typeface="Tahoma"/>
                <a:cs typeface="Tahoma"/>
              </a:rPr>
              <a:t>=</a:t>
            </a:r>
            <a:r>
              <a:rPr dirty="0" baseline="10101" sz="1650" spc="-97">
                <a:latin typeface="Tahoma"/>
                <a:cs typeface="Tahoma"/>
              </a:rPr>
              <a:t> </a:t>
            </a:r>
            <a:r>
              <a:rPr dirty="0" baseline="10101" sz="1650" spc="-15" i="1">
                <a:latin typeface="Calibri"/>
                <a:cs typeface="Calibri"/>
              </a:rPr>
              <a:t>θ</a:t>
            </a:r>
            <a:r>
              <a:rPr dirty="0" sz="800" spc="-10">
                <a:latin typeface="Tahoma"/>
                <a:cs typeface="Tahoma"/>
              </a:rPr>
              <a:t>old</a:t>
            </a:r>
            <a:r>
              <a:rPr dirty="0" sz="800" spc="10">
                <a:latin typeface="Tahoma"/>
                <a:cs typeface="Tahoma"/>
              </a:rPr>
              <a:t> </a:t>
            </a:r>
            <a:r>
              <a:rPr dirty="0" baseline="10101" sz="1650" spc="480" i="1">
                <a:latin typeface="Arial Narrow"/>
                <a:cs typeface="Arial Narrow"/>
              </a:rPr>
              <a:t>−</a:t>
            </a:r>
            <a:r>
              <a:rPr dirty="0" baseline="10101" sz="1650" spc="-44" i="1">
                <a:latin typeface="Arial Narrow"/>
                <a:cs typeface="Arial Narrow"/>
              </a:rPr>
              <a:t> </a:t>
            </a:r>
            <a:r>
              <a:rPr dirty="0" baseline="10101" sz="1650" spc="-60" i="1">
                <a:latin typeface="Calibri"/>
                <a:cs typeface="Calibri"/>
              </a:rPr>
              <a:t>η</a:t>
            </a:r>
            <a:r>
              <a:rPr dirty="0" baseline="10101" sz="1650" spc="-97" i="1">
                <a:latin typeface="Calibri"/>
                <a:cs typeface="Calibri"/>
              </a:rPr>
              <a:t> </a:t>
            </a:r>
            <a:r>
              <a:rPr dirty="0" baseline="-27777" sz="1650" spc="-37" i="1">
                <a:latin typeface="Calibri"/>
                <a:cs typeface="Calibri"/>
              </a:rPr>
              <a:t>∂θ</a:t>
            </a:r>
            <a:endParaRPr baseline="-27777" sz="165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302497" y="1841296"/>
            <a:ext cx="1155065" cy="371475"/>
            <a:chOff x="2302497" y="1841296"/>
            <a:chExt cx="1155065" cy="371475"/>
          </a:xfrm>
        </p:grpSpPr>
        <p:sp>
          <p:nvSpPr>
            <p:cNvPr id="20" name="object 20"/>
            <p:cNvSpPr/>
            <p:nvPr/>
          </p:nvSpPr>
          <p:spPr>
            <a:xfrm>
              <a:off x="2302497" y="1843824"/>
              <a:ext cx="1155065" cy="0"/>
            </a:xfrm>
            <a:custGeom>
              <a:avLst/>
              <a:gdLst/>
              <a:ahLst/>
              <a:cxnLst/>
              <a:rect l="l" t="t" r="r" b="b"/>
              <a:pathLst>
                <a:path w="1155065" h="0">
                  <a:moveTo>
                    <a:pt x="0" y="0"/>
                  </a:moveTo>
                  <a:lnTo>
                    <a:pt x="1155001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305024" y="1843824"/>
              <a:ext cx="0" cy="366395"/>
            </a:xfrm>
            <a:custGeom>
              <a:avLst/>
              <a:gdLst/>
              <a:ahLst/>
              <a:cxnLst/>
              <a:rect l="l" t="t" r="r" b="b"/>
              <a:pathLst>
                <a:path w="0" h="366394">
                  <a:moveTo>
                    <a:pt x="0" y="365950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454971" y="1843824"/>
              <a:ext cx="0" cy="366395"/>
            </a:xfrm>
            <a:custGeom>
              <a:avLst/>
              <a:gdLst/>
              <a:ahLst/>
              <a:cxnLst/>
              <a:rect l="l" t="t" r="r" b="b"/>
              <a:pathLst>
                <a:path w="0" h="366394">
                  <a:moveTo>
                    <a:pt x="0" y="365950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302497" y="2209774"/>
              <a:ext cx="1155065" cy="0"/>
            </a:xfrm>
            <a:custGeom>
              <a:avLst/>
              <a:gdLst/>
              <a:ahLst/>
              <a:cxnLst/>
              <a:rect l="l" t="t" r="r" b="b"/>
              <a:pathLst>
                <a:path w="1155065" h="0">
                  <a:moveTo>
                    <a:pt x="0" y="0"/>
                  </a:moveTo>
                  <a:lnTo>
                    <a:pt x="1155001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/>
          <p:nvPr/>
        </p:nvSpPr>
        <p:spPr>
          <a:xfrm>
            <a:off x="87743" y="2484411"/>
            <a:ext cx="5584825" cy="187960"/>
          </a:xfrm>
          <a:custGeom>
            <a:avLst/>
            <a:gdLst/>
            <a:ahLst/>
            <a:cxnLst/>
            <a:rect l="l" t="t" r="r" b="b"/>
            <a:pathLst>
              <a:path w="5584825" h="187960">
                <a:moveTo>
                  <a:pt x="553377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5584580" y="187823"/>
                </a:lnTo>
                <a:lnTo>
                  <a:pt x="5584580" y="50800"/>
                </a:lnTo>
                <a:lnTo>
                  <a:pt x="5580571" y="31075"/>
                </a:lnTo>
                <a:lnTo>
                  <a:pt x="5569657" y="14922"/>
                </a:lnTo>
                <a:lnTo>
                  <a:pt x="5553504" y="4008"/>
                </a:lnTo>
                <a:lnTo>
                  <a:pt x="5533779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138544" y="2512872"/>
            <a:ext cx="521334" cy="1536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45"/>
              </a:lnSpc>
            </a:pPr>
            <a:r>
              <a:rPr dirty="0" sz="1200" spc="-55">
                <a:solidFill>
                  <a:srgbClr val="FFFFFF"/>
                </a:solidFill>
                <a:latin typeface="Tahoma"/>
                <a:cs typeface="Tahoma"/>
              </a:rPr>
              <a:t>Intuition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87743" y="2541350"/>
            <a:ext cx="5635625" cy="551815"/>
            <a:chOff x="87743" y="2541350"/>
            <a:chExt cx="5635625" cy="551815"/>
          </a:xfrm>
        </p:grpSpPr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7743" y="2659583"/>
              <a:ext cx="5584580" cy="50609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138544" y="2541350"/>
              <a:ext cx="5584825" cy="551815"/>
            </a:xfrm>
            <a:custGeom>
              <a:avLst/>
              <a:gdLst/>
              <a:ahLst/>
              <a:cxnLst/>
              <a:rect l="l" t="t" r="r" b="b"/>
              <a:pathLst>
                <a:path w="5584825" h="551814">
                  <a:moveTo>
                    <a:pt x="5584580" y="0"/>
                  </a:moveTo>
                  <a:lnTo>
                    <a:pt x="0" y="0"/>
                  </a:lnTo>
                  <a:lnTo>
                    <a:pt x="0" y="551341"/>
                  </a:lnTo>
                  <a:lnTo>
                    <a:pt x="5584580" y="551341"/>
                  </a:lnTo>
                  <a:lnTo>
                    <a:pt x="55845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87743" y="2703869"/>
              <a:ext cx="5584825" cy="338455"/>
            </a:xfrm>
            <a:custGeom>
              <a:avLst/>
              <a:gdLst/>
              <a:ahLst/>
              <a:cxnLst/>
              <a:rect l="l" t="t" r="r" b="b"/>
              <a:pathLst>
                <a:path w="5584825" h="338455">
                  <a:moveTo>
                    <a:pt x="5584580" y="0"/>
                  </a:moveTo>
                  <a:lnTo>
                    <a:pt x="0" y="0"/>
                  </a:lnTo>
                  <a:lnTo>
                    <a:pt x="0" y="287221"/>
                  </a:lnTo>
                  <a:lnTo>
                    <a:pt x="4008" y="306946"/>
                  </a:lnTo>
                  <a:lnTo>
                    <a:pt x="14922" y="323099"/>
                  </a:lnTo>
                  <a:lnTo>
                    <a:pt x="31075" y="334013"/>
                  </a:lnTo>
                  <a:lnTo>
                    <a:pt x="50800" y="338022"/>
                  </a:lnTo>
                  <a:lnTo>
                    <a:pt x="5533779" y="338022"/>
                  </a:lnTo>
                  <a:lnTo>
                    <a:pt x="5553504" y="334013"/>
                  </a:lnTo>
                  <a:lnTo>
                    <a:pt x="5569657" y="323099"/>
                  </a:lnTo>
                  <a:lnTo>
                    <a:pt x="5580571" y="306946"/>
                  </a:lnTo>
                  <a:lnTo>
                    <a:pt x="5584580" y="287221"/>
                  </a:lnTo>
                  <a:lnTo>
                    <a:pt x="5584580" y="0"/>
                  </a:lnTo>
                  <a:close/>
                </a:path>
              </a:pathLst>
            </a:custGeom>
            <a:solidFill>
              <a:srgbClr val="F8E5E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125844" y="2223844"/>
            <a:ext cx="5597525" cy="81406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Tahoma"/>
                <a:cs typeface="Tahoma"/>
              </a:rPr>
              <a:t>Here,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i="1">
                <a:latin typeface="Calibri"/>
                <a:cs typeface="Calibri"/>
              </a:rPr>
              <a:t>θ</a:t>
            </a:r>
            <a:r>
              <a:rPr dirty="0" sz="1100" spc="80" i="1">
                <a:latin typeface="Calibri"/>
                <a:cs typeface="Calibri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any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parameter,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L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loss,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i="1">
                <a:latin typeface="Calibri"/>
                <a:cs typeface="Calibri"/>
              </a:rPr>
              <a:t>η</a:t>
            </a:r>
            <a:r>
              <a:rPr dirty="0" sz="1100" spc="90" i="1">
                <a:latin typeface="Calibri"/>
                <a:cs typeface="Calibri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40">
                <a:latin typeface="Tahoma"/>
                <a:cs typeface="Tahoma"/>
              </a:rPr>
              <a:t> learning </a:t>
            </a:r>
            <a:r>
              <a:rPr dirty="0" sz="1100" spc="-10">
                <a:latin typeface="Tahoma"/>
                <a:cs typeface="Tahoma"/>
              </a:rPr>
              <a:t>rate.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60"/>
              </a:spcBef>
            </a:pPr>
            <a:endParaRPr sz="1100">
              <a:latin typeface="Tahoma"/>
              <a:cs typeface="Tahoma"/>
            </a:endParaRPr>
          </a:p>
          <a:p>
            <a:pPr marL="12700" marR="541020">
              <a:lnSpc>
                <a:spcPct val="102699"/>
              </a:lnSpc>
            </a:pP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gradient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tells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us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which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direction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increases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40">
                <a:latin typeface="Tahoma"/>
                <a:cs typeface="Tahoma"/>
              </a:rPr>
              <a:t> loss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locally.</a:t>
            </a:r>
            <a:r>
              <a:rPr dirty="0" sz="1100" spc="6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We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step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opposite </a:t>
            </a:r>
            <a:r>
              <a:rPr dirty="0" sz="1100" spc="-10">
                <a:latin typeface="Tahoma"/>
                <a:cs typeface="Tahoma"/>
              </a:rPr>
              <a:t>direction.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3505">
              <a:lnSpc>
                <a:spcPts val="675"/>
              </a:lnSpc>
            </a:pPr>
            <a:fld id="{81D60167-4931-47E6-BA6A-407CBD079E47}" type="slidenum">
              <a:rPr dirty="0" spc="-10"/>
              <a:t>7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80"/>
              <a:t>A</a:t>
            </a:r>
            <a:r>
              <a:rPr dirty="0" spc="10"/>
              <a:t> </a:t>
            </a:r>
            <a:r>
              <a:rPr dirty="0"/>
              <a:t>tiny</a:t>
            </a:r>
            <a:r>
              <a:rPr dirty="0" spc="15"/>
              <a:t> </a:t>
            </a:r>
            <a:r>
              <a:rPr dirty="0" spc="-55"/>
              <a:t>gradient-</a:t>
            </a:r>
            <a:r>
              <a:rPr dirty="0" spc="-50"/>
              <a:t>descent</a:t>
            </a:r>
            <a:r>
              <a:rPr dirty="0" spc="15"/>
              <a:t> </a:t>
            </a:r>
            <a:r>
              <a:rPr dirty="0" spc="-10"/>
              <a:t>intuition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836917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046949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256982"/>
            <a:ext cx="65265" cy="6526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5844" y="499666"/>
            <a:ext cx="3861435" cy="86614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434"/>
              </a:spcBef>
            </a:pPr>
            <a:r>
              <a:rPr dirty="0" sz="1100" spc="-55">
                <a:latin typeface="Tahoma"/>
                <a:cs typeface="Tahoma"/>
              </a:rPr>
              <a:t>Imagine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7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loss </a:t>
            </a:r>
            <a:r>
              <a:rPr dirty="0" sz="1100" spc="-65">
                <a:latin typeface="Tahoma"/>
                <a:cs typeface="Tahoma"/>
              </a:rPr>
              <a:t>changes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with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35">
                <a:latin typeface="Tahoma"/>
                <a:cs typeface="Tahoma"/>
              </a:rPr>
              <a:t> weight </a:t>
            </a:r>
            <a:r>
              <a:rPr dirty="0" sz="1100" spc="-65" i="1">
                <a:latin typeface="Arial"/>
                <a:cs typeface="Arial"/>
              </a:rPr>
              <a:t>w</a:t>
            </a:r>
            <a:r>
              <a:rPr dirty="0" sz="1100" spc="-190" i="1">
                <a:latin typeface="Arial"/>
                <a:cs typeface="Arial"/>
              </a:rPr>
              <a:t> </a:t>
            </a:r>
            <a:r>
              <a:rPr dirty="0" sz="1100" spc="-5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algn="just" marL="289560" marR="5080">
              <a:lnSpc>
                <a:spcPct val="125299"/>
              </a:lnSpc>
            </a:pPr>
            <a:r>
              <a:rPr dirty="0" sz="1100" spc="-65">
                <a:latin typeface="Tahoma"/>
                <a:cs typeface="Tahoma"/>
              </a:rPr>
              <a:t>If</a:t>
            </a:r>
            <a:r>
              <a:rPr dirty="0" sz="1100" spc="2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the</a:t>
            </a:r>
            <a:r>
              <a:rPr dirty="0" sz="1100" spc="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gradient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is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positive,</a:t>
            </a:r>
            <a:r>
              <a:rPr dirty="0" sz="1100" spc="2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subtracting</a:t>
            </a:r>
            <a:r>
              <a:rPr dirty="0" sz="1100" spc="20">
                <a:latin typeface="Tahoma"/>
                <a:cs typeface="Tahoma"/>
              </a:rPr>
              <a:t> </a:t>
            </a:r>
            <a:r>
              <a:rPr dirty="0" sz="1100" spc="15">
                <a:latin typeface="Tahoma"/>
                <a:cs typeface="Tahoma"/>
              </a:rPr>
              <a:t>it </a:t>
            </a:r>
            <a:r>
              <a:rPr dirty="0" sz="1100" spc="-50">
                <a:latin typeface="Tahoma"/>
                <a:cs typeface="Tahoma"/>
              </a:rPr>
              <a:t>tends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 spc="-15">
                <a:latin typeface="Tahoma"/>
                <a:cs typeface="Tahoma"/>
              </a:rPr>
              <a:t>to</a:t>
            </a:r>
            <a:r>
              <a:rPr dirty="0" sz="1100" spc="20">
                <a:latin typeface="Tahoma"/>
                <a:cs typeface="Tahoma"/>
              </a:rPr>
              <a:t> </a:t>
            </a:r>
            <a:r>
              <a:rPr dirty="0" sz="1100" spc="-65">
                <a:latin typeface="Tahoma"/>
                <a:cs typeface="Tahoma"/>
              </a:rPr>
              <a:t>decrease</a:t>
            </a:r>
            <a:r>
              <a:rPr dirty="0" sz="1100" spc="20">
                <a:latin typeface="Tahoma"/>
                <a:cs typeface="Tahoma"/>
              </a:rPr>
              <a:t> </a:t>
            </a:r>
            <a:r>
              <a:rPr dirty="0" sz="1100" spc="-60" i="1">
                <a:latin typeface="Arial"/>
                <a:cs typeface="Arial"/>
              </a:rPr>
              <a:t>w</a:t>
            </a:r>
            <a:r>
              <a:rPr dirty="0" sz="1100" spc="-190" i="1">
                <a:latin typeface="Arial"/>
                <a:cs typeface="Arial"/>
              </a:rPr>
              <a:t> </a:t>
            </a:r>
            <a:r>
              <a:rPr dirty="0" sz="1100" spc="-40">
                <a:latin typeface="Tahoma"/>
                <a:cs typeface="Tahoma"/>
              </a:rPr>
              <a:t>. </a:t>
            </a:r>
            <a:r>
              <a:rPr dirty="0" sz="1100" spc="-65">
                <a:latin typeface="Tahoma"/>
                <a:cs typeface="Tahoma"/>
              </a:rPr>
              <a:t>If</a:t>
            </a:r>
            <a:r>
              <a:rPr dirty="0" sz="1100" spc="2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the</a:t>
            </a:r>
            <a:r>
              <a:rPr dirty="0" sz="1100" spc="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gradient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is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negative,</a:t>
            </a:r>
            <a:r>
              <a:rPr dirty="0" sz="1100" spc="2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subtracting</a:t>
            </a:r>
            <a:r>
              <a:rPr dirty="0" sz="1100" spc="15">
                <a:latin typeface="Tahoma"/>
                <a:cs typeface="Tahoma"/>
              </a:rPr>
              <a:t> it </a:t>
            </a:r>
            <a:r>
              <a:rPr dirty="0" sz="1100" spc="-50">
                <a:latin typeface="Tahoma"/>
                <a:cs typeface="Tahoma"/>
              </a:rPr>
              <a:t>tends</a:t>
            </a:r>
            <a:r>
              <a:rPr dirty="0" sz="1100" spc="20">
                <a:latin typeface="Tahoma"/>
                <a:cs typeface="Tahoma"/>
              </a:rPr>
              <a:t> </a:t>
            </a:r>
            <a:r>
              <a:rPr dirty="0" sz="1100" spc="-15">
                <a:latin typeface="Tahoma"/>
                <a:cs typeface="Tahoma"/>
              </a:rPr>
              <a:t>to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increase</a:t>
            </a:r>
            <a:r>
              <a:rPr dirty="0" sz="1100" spc="20">
                <a:latin typeface="Tahoma"/>
                <a:cs typeface="Tahoma"/>
              </a:rPr>
              <a:t> </a:t>
            </a:r>
            <a:r>
              <a:rPr dirty="0" sz="1100" spc="-60" i="1">
                <a:latin typeface="Arial"/>
                <a:cs typeface="Arial"/>
              </a:rPr>
              <a:t>w</a:t>
            </a:r>
            <a:r>
              <a:rPr dirty="0" sz="1100" spc="-190" i="1">
                <a:latin typeface="Arial"/>
                <a:cs typeface="Arial"/>
              </a:rPr>
              <a:t> </a:t>
            </a:r>
            <a:r>
              <a:rPr dirty="0" sz="1100" spc="-95">
                <a:latin typeface="Tahoma"/>
                <a:cs typeface="Tahoma"/>
              </a:rPr>
              <a:t>.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5">
                <a:latin typeface="Tahoma"/>
                <a:cs typeface="Tahoma"/>
              </a:rPr>
              <a:t>The</a:t>
            </a:r>
            <a:r>
              <a:rPr dirty="0" sz="1100" spc="2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learning</a:t>
            </a:r>
            <a:r>
              <a:rPr dirty="0" sz="1100" spc="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rate</a:t>
            </a:r>
            <a:r>
              <a:rPr dirty="0" sz="1100" spc="2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controls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the</a:t>
            </a:r>
            <a:r>
              <a:rPr dirty="0" sz="1100" spc="2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step</a:t>
            </a:r>
            <a:r>
              <a:rPr dirty="0" sz="1100" spc="2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size.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7743" y="1490941"/>
            <a:ext cx="5584825" cy="198755"/>
          </a:xfrm>
          <a:custGeom>
            <a:avLst/>
            <a:gdLst/>
            <a:ahLst/>
            <a:cxnLst/>
            <a:rect l="l" t="t" r="r" b="b"/>
            <a:pathLst>
              <a:path w="5584825" h="198755">
                <a:moveTo>
                  <a:pt x="553377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5584580" y="198367"/>
                </a:lnTo>
                <a:lnTo>
                  <a:pt x="5584580" y="50800"/>
                </a:lnTo>
                <a:lnTo>
                  <a:pt x="5580571" y="31075"/>
                </a:lnTo>
                <a:lnTo>
                  <a:pt x="5569657" y="14922"/>
                </a:lnTo>
                <a:lnTo>
                  <a:pt x="5553504" y="4008"/>
                </a:lnTo>
                <a:lnTo>
                  <a:pt x="5533779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38544" y="1519402"/>
            <a:ext cx="1095375" cy="1536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45"/>
              </a:lnSpc>
            </a:pPr>
            <a:r>
              <a:rPr dirty="0" sz="1200" spc="-40">
                <a:solidFill>
                  <a:srgbClr val="FFFFFF"/>
                </a:solidFill>
                <a:latin typeface="Tahoma"/>
                <a:cs typeface="Tahoma"/>
              </a:rPr>
              <a:t>Numerical</a:t>
            </a:r>
            <a:r>
              <a:rPr dirty="0" sz="1200" spc="-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65">
                <a:solidFill>
                  <a:srgbClr val="FFFFFF"/>
                </a:solidFill>
                <a:latin typeface="Tahoma"/>
                <a:cs typeface="Tahoma"/>
              </a:rPr>
              <a:t>update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7743" y="1547869"/>
            <a:ext cx="5635625" cy="764540"/>
            <a:chOff x="87743" y="1547869"/>
            <a:chExt cx="5635625" cy="764540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743" y="1676666"/>
              <a:ext cx="5584580" cy="5060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38544" y="1547869"/>
              <a:ext cx="5584825" cy="764540"/>
            </a:xfrm>
            <a:custGeom>
              <a:avLst/>
              <a:gdLst/>
              <a:ahLst/>
              <a:cxnLst/>
              <a:rect l="l" t="t" r="r" b="b"/>
              <a:pathLst>
                <a:path w="5584825" h="764539">
                  <a:moveTo>
                    <a:pt x="5584580" y="0"/>
                  </a:moveTo>
                  <a:lnTo>
                    <a:pt x="0" y="0"/>
                  </a:lnTo>
                  <a:lnTo>
                    <a:pt x="0" y="764331"/>
                  </a:lnTo>
                  <a:lnTo>
                    <a:pt x="5584580" y="764331"/>
                  </a:lnTo>
                  <a:lnTo>
                    <a:pt x="55845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87743" y="1720931"/>
              <a:ext cx="5584825" cy="541020"/>
            </a:xfrm>
            <a:custGeom>
              <a:avLst/>
              <a:gdLst/>
              <a:ahLst/>
              <a:cxnLst/>
              <a:rect l="l" t="t" r="r" b="b"/>
              <a:pathLst>
                <a:path w="5584825" h="541019">
                  <a:moveTo>
                    <a:pt x="5584580" y="0"/>
                  </a:moveTo>
                  <a:lnTo>
                    <a:pt x="0" y="0"/>
                  </a:lnTo>
                  <a:lnTo>
                    <a:pt x="0" y="489668"/>
                  </a:lnTo>
                  <a:lnTo>
                    <a:pt x="4008" y="509393"/>
                  </a:lnTo>
                  <a:lnTo>
                    <a:pt x="14922" y="525546"/>
                  </a:lnTo>
                  <a:lnTo>
                    <a:pt x="31075" y="536460"/>
                  </a:lnTo>
                  <a:lnTo>
                    <a:pt x="50800" y="540468"/>
                  </a:lnTo>
                  <a:lnTo>
                    <a:pt x="5533779" y="540468"/>
                  </a:lnTo>
                  <a:lnTo>
                    <a:pt x="5553504" y="536460"/>
                  </a:lnTo>
                  <a:lnTo>
                    <a:pt x="5569657" y="525546"/>
                  </a:lnTo>
                  <a:lnTo>
                    <a:pt x="5580571" y="509393"/>
                  </a:lnTo>
                  <a:lnTo>
                    <a:pt x="5584580" y="489668"/>
                  </a:lnTo>
                  <a:lnTo>
                    <a:pt x="5584580" y="0"/>
                  </a:lnTo>
                  <a:close/>
                </a:path>
              </a:pathLst>
            </a:custGeom>
            <a:solidFill>
              <a:srgbClr val="E5EFE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1891195" y="1804948"/>
            <a:ext cx="16192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5" i="1">
                <a:latin typeface="Calibri"/>
                <a:cs typeface="Calibri"/>
              </a:rPr>
              <a:t>∂</a:t>
            </a:r>
            <a:r>
              <a:rPr dirty="0" sz="800" spc="-25" i="1">
                <a:latin typeface="Arial"/>
                <a:cs typeface="Arial"/>
              </a:rPr>
              <a:t>w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0444" y="1719845"/>
            <a:ext cx="22967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45">
                <a:latin typeface="Tahoma"/>
                <a:cs typeface="Tahoma"/>
              </a:rPr>
              <a:t>Suppose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w</a:t>
            </a:r>
            <a:r>
              <a:rPr dirty="0" sz="1100" spc="8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6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2,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i="1">
                <a:latin typeface="Calibri"/>
                <a:cs typeface="Calibri"/>
              </a:rPr>
              <a:t>η</a:t>
            </a:r>
            <a:r>
              <a:rPr dirty="0" sz="1100" spc="65" i="1">
                <a:latin typeface="Calibri"/>
                <a:cs typeface="Calibri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6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0</a:t>
            </a:r>
            <a:r>
              <a:rPr dirty="0" sz="1100" spc="-10" i="1">
                <a:latin typeface="Calibri"/>
                <a:cs typeface="Calibri"/>
              </a:rPr>
              <a:t>.</a:t>
            </a:r>
            <a:r>
              <a:rPr dirty="0" sz="1100" spc="-10">
                <a:latin typeface="Tahoma"/>
                <a:cs typeface="Tahoma"/>
              </a:rPr>
              <a:t>1,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and</a:t>
            </a:r>
            <a:r>
              <a:rPr dirty="0" sz="1100" spc="100">
                <a:latin typeface="Tahoma"/>
                <a:cs typeface="Tahoma"/>
              </a:rPr>
              <a:t> </a:t>
            </a:r>
            <a:r>
              <a:rPr dirty="0" u="sng" baseline="31250" sz="1200" spc="-142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baseline="31250" sz="1200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∂</a:t>
            </a:r>
            <a:r>
              <a:rPr dirty="0" u="sng" baseline="31250" sz="120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</a:t>
            </a:r>
            <a:r>
              <a:rPr dirty="0" baseline="31250" sz="1200" spc="397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3.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7743" y="2413329"/>
            <a:ext cx="5584825" cy="187960"/>
          </a:xfrm>
          <a:custGeom>
            <a:avLst/>
            <a:gdLst/>
            <a:ahLst/>
            <a:cxnLst/>
            <a:rect l="l" t="t" r="r" b="b"/>
            <a:pathLst>
              <a:path w="5584825" h="187960">
                <a:moveTo>
                  <a:pt x="553377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5584580" y="187823"/>
                </a:lnTo>
                <a:lnTo>
                  <a:pt x="5584580" y="50800"/>
                </a:lnTo>
                <a:lnTo>
                  <a:pt x="5580571" y="31075"/>
                </a:lnTo>
                <a:lnTo>
                  <a:pt x="5569657" y="14922"/>
                </a:lnTo>
                <a:lnTo>
                  <a:pt x="5553504" y="4008"/>
                </a:lnTo>
                <a:lnTo>
                  <a:pt x="5533779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38544" y="2441777"/>
            <a:ext cx="455295" cy="1536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45"/>
              </a:lnSpc>
            </a:pPr>
            <a:r>
              <a:rPr dirty="0" sz="1200" spc="-65">
                <a:solidFill>
                  <a:srgbClr val="FFFFFF"/>
                </a:solidFill>
                <a:latin typeface="Tahoma"/>
                <a:cs typeface="Tahoma"/>
              </a:rPr>
              <a:t>Discuss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7743" y="2470257"/>
            <a:ext cx="5635625" cy="406400"/>
            <a:chOff x="87743" y="2470257"/>
            <a:chExt cx="5635625" cy="406400"/>
          </a:xfrm>
        </p:grpSpPr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743" y="2588501"/>
              <a:ext cx="5584580" cy="5060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38544" y="2470257"/>
              <a:ext cx="5584825" cy="406400"/>
            </a:xfrm>
            <a:custGeom>
              <a:avLst/>
              <a:gdLst/>
              <a:ahLst/>
              <a:cxnLst/>
              <a:rect l="l" t="t" r="r" b="b"/>
              <a:pathLst>
                <a:path w="5584825" h="406400">
                  <a:moveTo>
                    <a:pt x="5584580" y="0"/>
                  </a:moveTo>
                  <a:lnTo>
                    <a:pt x="0" y="0"/>
                  </a:lnTo>
                  <a:lnTo>
                    <a:pt x="0" y="406204"/>
                  </a:lnTo>
                  <a:lnTo>
                    <a:pt x="5584580" y="406204"/>
                  </a:lnTo>
                  <a:lnTo>
                    <a:pt x="55845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87743" y="2632776"/>
              <a:ext cx="5584825" cy="193040"/>
            </a:xfrm>
            <a:custGeom>
              <a:avLst/>
              <a:gdLst/>
              <a:ahLst/>
              <a:cxnLst/>
              <a:rect l="l" t="t" r="r" b="b"/>
              <a:pathLst>
                <a:path w="5584825" h="193039">
                  <a:moveTo>
                    <a:pt x="5584580" y="0"/>
                  </a:moveTo>
                  <a:lnTo>
                    <a:pt x="0" y="0"/>
                  </a:lnTo>
                  <a:lnTo>
                    <a:pt x="0" y="142084"/>
                  </a:lnTo>
                  <a:lnTo>
                    <a:pt x="4008" y="161809"/>
                  </a:lnTo>
                  <a:lnTo>
                    <a:pt x="14922" y="177962"/>
                  </a:lnTo>
                  <a:lnTo>
                    <a:pt x="31075" y="188876"/>
                  </a:lnTo>
                  <a:lnTo>
                    <a:pt x="50800" y="192885"/>
                  </a:lnTo>
                  <a:lnTo>
                    <a:pt x="5533779" y="192885"/>
                  </a:lnTo>
                  <a:lnTo>
                    <a:pt x="5553504" y="188876"/>
                  </a:lnTo>
                  <a:lnTo>
                    <a:pt x="5569657" y="177962"/>
                  </a:lnTo>
                  <a:lnTo>
                    <a:pt x="5580571" y="161809"/>
                  </a:lnTo>
                  <a:lnTo>
                    <a:pt x="5584580" y="142084"/>
                  </a:lnTo>
                  <a:lnTo>
                    <a:pt x="5584580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125844" y="2031096"/>
            <a:ext cx="5610225" cy="7639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R="93345">
              <a:lnSpc>
                <a:spcPct val="100000"/>
              </a:lnSpc>
              <a:spcBef>
                <a:spcPts val="90"/>
              </a:spcBef>
            </a:pPr>
            <a:r>
              <a:rPr dirty="0" sz="1100" spc="-10" i="1">
                <a:latin typeface="Arial"/>
                <a:cs typeface="Arial"/>
              </a:rPr>
              <a:t>w</a:t>
            </a:r>
            <a:r>
              <a:rPr dirty="0" baseline="-10416" sz="1200" spc="-15">
                <a:latin typeface="Tahoma"/>
                <a:cs typeface="Tahoma"/>
              </a:rPr>
              <a:t>new</a:t>
            </a:r>
            <a:r>
              <a:rPr dirty="0" baseline="-10416" sz="1200" spc="127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2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spc="320" i="1">
                <a:latin typeface="Arial Narrow"/>
                <a:cs typeface="Arial Narrow"/>
              </a:rPr>
              <a:t>−</a:t>
            </a:r>
            <a:r>
              <a:rPr dirty="0" sz="1100" spc="-15" i="1">
                <a:latin typeface="Arial Narrow"/>
                <a:cs typeface="Arial Narrow"/>
              </a:rPr>
              <a:t> </a:t>
            </a:r>
            <a:r>
              <a:rPr dirty="0" sz="1100" spc="-25">
                <a:latin typeface="Tahoma"/>
                <a:cs typeface="Tahoma"/>
              </a:rPr>
              <a:t>0</a:t>
            </a:r>
            <a:r>
              <a:rPr dirty="0" sz="1100" spc="-25" i="1">
                <a:latin typeface="Calibri"/>
                <a:cs typeface="Calibri"/>
              </a:rPr>
              <a:t>.</a:t>
            </a:r>
            <a:r>
              <a:rPr dirty="0" sz="1100" spc="-25">
                <a:latin typeface="Tahoma"/>
                <a:cs typeface="Tahoma"/>
              </a:rPr>
              <a:t>1(3)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1</a:t>
            </a:r>
            <a:r>
              <a:rPr dirty="0" sz="1100" spc="-25" i="1">
                <a:latin typeface="Calibri"/>
                <a:cs typeface="Calibri"/>
              </a:rPr>
              <a:t>.</a:t>
            </a:r>
            <a:r>
              <a:rPr dirty="0" sz="1100" spc="-25">
                <a:latin typeface="Tahoma"/>
                <a:cs typeface="Tahoma"/>
              </a:rPr>
              <a:t>7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25"/>
              </a:spcBef>
            </a:pP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latin typeface="Tahoma"/>
                <a:cs typeface="Tahoma"/>
              </a:rPr>
              <a:t>What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might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happen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if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learning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rate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far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too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large?</a:t>
            </a:r>
            <a:r>
              <a:rPr dirty="0" sz="1100" spc="7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What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if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it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extremely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small?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3505">
              <a:lnSpc>
                <a:spcPts val="675"/>
              </a:lnSpc>
            </a:pPr>
            <a:fld id="{81D60167-4931-47E6-BA6A-407CBD079E47}" type="slidenum">
              <a:rPr dirty="0" spc="-10"/>
              <a:t>7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Now</a:t>
            </a:r>
            <a:r>
              <a:rPr dirty="0" spc="-100"/>
              <a:t> </a:t>
            </a:r>
            <a:r>
              <a:rPr dirty="0" spc="-60"/>
              <a:t>change</a:t>
            </a:r>
            <a:r>
              <a:rPr dirty="0" spc="-50"/>
              <a:t> </a:t>
            </a:r>
            <a:r>
              <a:rPr dirty="0"/>
              <a:t>the</a:t>
            </a:r>
            <a:r>
              <a:rPr dirty="0" spc="-105"/>
              <a:t> </a:t>
            </a:r>
            <a:r>
              <a:rPr dirty="0" spc="-10"/>
              <a:t>task:</a:t>
            </a:r>
            <a:r>
              <a:rPr dirty="0" spc="35"/>
              <a:t> </a:t>
            </a:r>
            <a:r>
              <a:rPr dirty="0" spc="-20"/>
              <a:t>Pass</a:t>
            </a:r>
            <a:r>
              <a:rPr dirty="0" spc="-85"/>
              <a:t> </a:t>
            </a:r>
            <a:r>
              <a:rPr dirty="0"/>
              <a:t>or</a:t>
            </a:r>
            <a:r>
              <a:rPr dirty="0" spc="-80"/>
              <a:t> </a:t>
            </a:r>
            <a:r>
              <a:rPr dirty="0" spc="-20"/>
              <a:t>Fail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725371"/>
            <a:ext cx="20351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5">
                <a:latin typeface="Tahoma"/>
                <a:cs typeface="Tahoma"/>
              </a:rPr>
              <a:t>Suppose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target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class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label: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03080" y="915630"/>
            <a:ext cx="1371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459">
                <a:latin typeface="Arial"/>
                <a:cs typeface="Arial"/>
              </a:rPr>
              <a:t>(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39454" y="1152549"/>
            <a:ext cx="2508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i="1">
                <a:latin typeface="Arial"/>
                <a:cs typeface="Arial"/>
              </a:rPr>
              <a:t>y</a:t>
            </a:r>
            <a:r>
              <a:rPr dirty="0" sz="1100" spc="65" i="1">
                <a:latin typeface="Arial"/>
                <a:cs typeface="Arial"/>
              </a:rPr>
              <a:t> </a:t>
            </a:r>
            <a:r>
              <a:rPr dirty="0" sz="1100" spc="-5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14688" y="1015731"/>
            <a:ext cx="490855" cy="438784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  <a:tabLst>
                <a:tab pos="220345" algn="l"/>
              </a:tabLst>
            </a:pPr>
            <a:r>
              <a:rPr dirty="0" sz="1100" spc="-50">
                <a:latin typeface="Tahoma"/>
                <a:cs typeface="Tahoma"/>
              </a:rPr>
              <a:t>1</a:t>
            </a:r>
            <a:r>
              <a:rPr dirty="0" sz="1100">
                <a:latin typeface="Tahoma"/>
                <a:cs typeface="Tahoma"/>
              </a:rPr>
              <a:t>	</a:t>
            </a:r>
            <a:r>
              <a:rPr dirty="0" sz="1100" spc="-30">
                <a:latin typeface="Tahoma"/>
                <a:cs typeface="Tahoma"/>
              </a:rPr>
              <a:t>Pass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  <a:tabLst>
                <a:tab pos="220345" algn="l"/>
              </a:tabLst>
            </a:pPr>
            <a:r>
              <a:rPr dirty="0" sz="1100" spc="-50">
                <a:latin typeface="Tahoma"/>
                <a:cs typeface="Tahoma"/>
              </a:rPr>
              <a:t>0</a:t>
            </a:r>
            <a:r>
              <a:rPr dirty="0" sz="1100">
                <a:latin typeface="Tahoma"/>
                <a:cs typeface="Tahoma"/>
              </a:rPr>
              <a:t>	</a:t>
            </a:r>
            <a:r>
              <a:rPr dirty="0" sz="1100" spc="-20">
                <a:latin typeface="Tahoma"/>
                <a:cs typeface="Tahoma"/>
              </a:rPr>
              <a:t>Fail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7743" y="2140444"/>
            <a:ext cx="5584825" cy="187960"/>
          </a:xfrm>
          <a:custGeom>
            <a:avLst/>
            <a:gdLst/>
            <a:ahLst/>
            <a:cxnLst/>
            <a:rect l="l" t="t" r="r" b="b"/>
            <a:pathLst>
              <a:path w="5584825" h="187960">
                <a:moveTo>
                  <a:pt x="553377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5584580" y="187823"/>
                </a:lnTo>
                <a:lnTo>
                  <a:pt x="5584580" y="50800"/>
                </a:lnTo>
                <a:lnTo>
                  <a:pt x="5580571" y="31075"/>
                </a:lnTo>
                <a:lnTo>
                  <a:pt x="5569657" y="14922"/>
                </a:lnTo>
                <a:lnTo>
                  <a:pt x="5553504" y="4008"/>
                </a:lnTo>
                <a:lnTo>
                  <a:pt x="5533779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38544" y="2168892"/>
            <a:ext cx="548640" cy="1536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45"/>
              </a:lnSpc>
            </a:pPr>
            <a:r>
              <a:rPr dirty="0" sz="1200" spc="-60">
                <a:solidFill>
                  <a:srgbClr val="FFFFFF"/>
                </a:solidFill>
                <a:latin typeface="Tahoma"/>
                <a:cs typeface="Tahoma"/>
              </a:rPr>
              <a:t>Question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7743" y="2197372"/>
            <a:ext cx="5635625" cy="406400"/>
            <a:chOff x="87743" y="2197372"/>
            <a:chExt cx="5635625" cy="40640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2315616"/>
              <a:ext cx="5584580" cy="5060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38544" y="2197372"/>
              <a:ext cx="5584825" cy="406400"/>
            </a:xfrm>
            <a:custGeom>
              <a:avLst/>
              <a:gdLst/>
              <a:ahLst/>
              <a:cxnLst/>
              <a:rect l="l" t="t" r="r" b="b"/>
              <a:pathLst>
                <a:path w="5584825" h="406400">
                  <a:moveTo>
                    <a:pt x="5584580" y="0"/>
                  </a:moveTo>
                  <a:lnTo>
                    <a:pt x="0" y="0"/>
                  </a:lnTo>
                  <a:lnTo>
                    <a:pt x="0" y="406204"/>
                  </a:lnTo>
                  <a:lnTo>
                    <a:pt x="5584580" y="406204"/>
                  </a:lnTo>
                  <a:lnTo>
                    <a:pt x="55845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87743" y="2359891"/>
              <a:ext cx="5584825" cy="193040"/>
            </a:xfrm>
            <a:custGeom>
              <a:avLst/>
              <a:gdLst/>
              <a:ahLst/>
              <a:cxnLst/>
              <a:rect l="l" t="t" r="r" b="b"/>
              <a:pathLst>
                <a:path w="5584825" h="193039">
                  <a:moveTo>
                    <a:pt x="5584580" y="0"/>
                  </a:moveTo>
                  <a:lnTo>
                    <a:pt x="0" y="0"/>
                  </a:lnTo>
                  <a:lnTo>
                    <a:pt x="0" y="142084"/>
                  </a:lnTo>
                  <a:lnTo>
                    <a:pt x="4008" y="161809"/>
                  </a:lnTo>
                  <a:lnTo>
                    <a:pt x="14922" y="177962"/>
                  </a:lnTo>
                  <a:lnTo>
                    <a:pt x="31075" y="188876"/>
                  </a:lnTo>
                  <a:lnTo>
                    <a:pt x="50800" y="192885"/>
                  </a:lnTo>
                  <a:lnTo>
                    <a:pt x="5533779" y="192885"/>
                  </a:lnTo>
                  <a:lnTo>
                    <a:pt x="5553504" y="188876"/>
                  </a:lnTo>
                  <a:lnTo>
                    <a:pt x="5569657" y="177962"/>
                  </a:lnTo>
                  <a:lnTo>
                    <a:pt x="5580571" y="161809"/>
                  </a:lnTo>
                  <a:lnTo>
                    <a:pt x="5584580" y="142084"/>
                  </a:lnTo>
                  <a:lnTo>
                    <a:pt x="5584580" y="0"/>
                  </a:lnTo>
                  <a:close/>
                </a:path>
              </a:pathLst>
            </a:custGeom>
            <a:solidFill>
              <a:srgbClr val="F8E5E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125844" y="1516835"/>
            <a:ext cx="5597525" cy="100520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368935">
              <a:lnSpc>
                <a:spcPct val="102600"/>
              </a:lnSpc>
              <a:spcBef>
                <a:spcPts val="55"/>
              </a:spcBef>
            </a:pPr>
            <a:r>
              <a:rPr dirty="0" sz="1100" spc="-25">
                <a:latin typeface="Tahoma"/>
                <a:cs typeface="Tahoma"/>
              </a:rPr>
              <a:t>Linear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regression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can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output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values such </a:t>
            </a:r>
            <a:r>
              <a:rPr dirty="0" sz="1100" spc="-30">
                <a:latin typeface="Tahoma"/>
                <a:cs typeface="Tahoma"/>
              </a:rPr>
              <a:t>as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55" i="1">
                <a:latin typeface="Arial Narrow"/>
                <a:cs typeface="Arial Narrow"/>
              </a:rPr>
              <a:t>−</a:t>
            </a:r>
            <a:r>
              <a:rPr dirty="0" sz="1100" spc="55">
                <a:latin typeface="Tahoma"/>
                <a:cs typeface="Tahoma"/>
              </a:rPr>
              <a:t>0</a:t>
            </a:r>
            <a:r>
              <a:rPr dirty="0" sz="1100" spc="55" i="1">
                <a:latin typeface="Calibri"/>
                <a:cs typeface="Calibri"/>
              </a:rPr>
              <a:t>.</a:t>
            </a:r>
            <a:r>
              <a:rPr dirty="0" sz="1100" spc="55">
                <a:latin typeface="Tahoma"/>
                <a:cs typeface="Tahoma"/>
              </a:rPr>
              <a:t>4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or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1</a:t>
            </a:r>
            <a:r>
              <a:rPr dirty="0" sz="1100" i="1">
                <a:latin typeface="Calibri"/>
                <a:cs typeface="Calibri"/>
              </a:rPr>
              <a:t>.</a:t>
            </a:r>
            <a:r>
              <a:rPr dirty="0" sz="1100">
                <a:latin typeface="Tahoma"/>
                <a:cs typeface="Tahoma"/>
              </a:rPr>
              <a:t>3.</a:t>
            </a:r>
            <a:r>
              <a:rPr dirty="0" sz="1100" spc="6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These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are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not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valid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probabilities. </a:t>
            </a:r>
            <a:r>
              <a:rPr dirty="0" sz="1100" spc="-10">
                <a:latin typeface="Tahoma"/>
                <a:cs typeface="Tahoma"/>
              </a:rPr>
              <a:t>For</a:t>
            </a:r>
            <a:r>
              <a:rPr dirty="0" sz="1100" spc="-8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binary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classification,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95">
                <a:latin typeface="Tahoma"/>
                <a:cs typeface="Tahoma"/>
              </a:rPr>
              <a:t>we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want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output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70">
                <a:latin typeface="Tahoma"/>
                <a:cs typeface="Tahoma"/>
              </a:rPr>
              <a:t>between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0</a:t>
            </a:r>
            <a:r>
              <a:rPr dirty="0" sz="1100" spc="-35">
                <a:latin typeface="Tahoma"/>
                <a:cs typeface="Tahoma"/>
              </a:rPr>
              <a:t> and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1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that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95">
                <a:latin typeface="Tahoma"/>
                <a:cs typeface="Tahoma"/>
              </a:rPr>
              <a:t>we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can</a:t>
            </a:r>
            <a:r>
              <a:rPr dirty="0" sz="1100" spc="-30">
                <a:latin typeface="Tahoma"/>
                <a:cs typeface="Tahoma"/>
              </a:rPr>
              <a:t> interpret as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a </a:t>
            </a:r>
            <a:r>
              <a:rPr dirty="0" sz="1100" spc="-40">
                <a:latin typeface="Tahoma"/>
                <a:cs typeface="Tahoma"/>
              </a:rPr>
              <a:t>predicted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probability.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100" spc="-20">
                <a:latin typeface="Tahoma"/>
                <a:cs typeface="Tahoma"/>
              </a:rPr>
              <a:t>How</a:t>
            </a:r>
            <a:r>
              <a:rPr dirty="0" sz="1100" spc="-7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could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95">
                <a:latin typeface="Tahoma"/>
                <a:cs typeface="Tahoma"/>
              </a:rPr>
              <a:t>we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turn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any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real-valued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score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into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number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70">
                <a:latin typeface="Tahoma"/>
                <a:cs typeface="Tahoma"/>
              </a:rPr>
              <a:t>between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0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25">
                <a:latin typeface="Tahoma"/>
                <a:cs typeface="Tahoma"/>
              </a:rPr>
              <a:t> 1?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675"/>
              </a:lnSpc>
            </a:pPr>
            <a:fld id="{81D60167-4931-47E6-BA6A-407CBD079E47}" type="slidenum">
              <a:rPr dirty="0" spc="-10"/>
              <a:t>10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Logistic</a:t>
            </a:r>
            <a:r>
              <a:rPr dirty="0" spc="-85"/>
              <a:t> </a:t>
            </a:r>
            <a:r>
              <a:rPr dirty="0" spc="-55"/>
              <a:t>regression:</a:t>
            </a:r>
            <a:r>
              <a:rPr dirty="0" spc="60"/>
              <a:t> </a:t>
            </a:r>
            <a:r>
              <a:rPr dirty="0" spc="-65"/>
              <a:t>score</a:t>
            </a:r>
            <a:r>
              <a:rPr dirty="0" spc="-45"/>
              <a:t> </a:t>
            </a:r>
            <a:r>
              <a:rPr dirty="0" spc="-10"/>
              <a:t>first,</a:t>
            </a:r>
            <a:r>
              <a:rPr dirty="0" spc="-60"/>
              <a:t> </a:t>
            </a:r>
            <a:r>
              <a:rPr dirty="0" spc="-35"/>
              <a:t>probability</a:t>
            </a:r>
            <a:r>
              <a:rPr dirty="0" spc="-65"/>
              <a:t> </a:t>
            </a:r>
            <a:r>
              <a:rPr dirty="0" spc="-20"/>
              <a:t>next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405585"/>
            <a:ext cx="3099435" cy="5842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First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compute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30">
                <a:latin typeface="Tahoma"/>
                <a:cs typeface="Tahoma"/>
              </a:rPr>
              <a:t> linear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score:</a:t>
            </a:r>
            <a:endParaRPr sz="1100">
              <a:latin typeface="Tahoma"/>
              <a:cs typeface="Tahoma"/>
            </a:endParaRPr>
          </a:p>
          <a:p>
            <a:pPr algn="r" marR="5080">
              <a:lnSpc>
                <a:spcPct val="100000"/>
              </a:lnSpc>
              <a:spcBef>
                <a:spcPts val="35"/>
              </a:spcBef>
            </a:pPr>
            <a:r>
              <a:rPr dirty="0" sz="1100" i="1">
                <a:latin typeface="Arial"/>
                <a:cs typeface="Arial"/>
              </a:rPr>
              <a:t>z</a:t>
            </a:r>
            <a:r>
              <a:rPr dirty="0" sz="1100" spc="3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6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wx</a:t>
            </a:r>
            <a:r>
              <a:rPr dirty="0" sz="1100" spc="1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spc="-50" i="1">
                <a:latin typeface="Arial"/>
                <a:cs typeface="Arial"/>
              </a:rPr>
              <a:t>b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1100">
                <a:latin typeface="Tahoma"/>
                <a:cs typeface="Tahoma"/>
              </a:rPr>
              <a:t>Then</a:t>
            </a:r>
            <a:r>
              <a:rPr dirty="0" sz="1100" spc="-7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apply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65">
                <a:latin typeface="Tahoma"/>
                <a:cs typeface="Tahoma"/>
              </a:rPr>
              <a:t> </a:t>
            </a:r>
            <a:r>
              <a:rPr dirty="0" sz="1100" spc="-20" b="1">
                <a:latin typeface="Gill Sans MT"/>
                <a:cs typeface="Gill Sans MT"/>
              </a:rPr>
              <a:t>sigmoid</a:t>
            </a:r>
            <a:r>
              <a:rPr dirty="0" sz="1100" b="1">
                <a:latin typeface="Gill Sans MT"/>
                <a:cs typeface="Gill Sans MT"/>
              </a:rPr>
              <a:t> </a:t>
            </a:r>
            <a:r>
              <a:rPr dirty="0" sz="1100" spc="-10" b="1">
                <a:latin typeface="Gill Sans MT"/>
                <a:cs typeface="Gill Sans MT"/>
              </a:rPr>
              <a:t>function</a:t>
            </a:r>
            <a:r>
              <a:rPr dirty="0" sz="1100" spc="-10">
                <a:latin typeface="Tahoma"/>
                <a:cs typeface="Tahoma"/>
              </a:rPr>
              <a:t>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07779" y="1251965"/>
            <a:ext cx="455295" cy="0"/>
          </a:xfrm>
          <a:custGeom>
            <a:avLst/>
            <a:gdLst/>
            <a:ahLst/>
            <a:cxnLst/>
            <a:rect l="l" t="t" r="r" b="b"/>
            <a:pathLst>
              <a:path w="455295" h="0">
                <a:moveTo>
                  <a:pt x="0" y="0"/>
                </a:moveTo>
                <a:lnTo>
                  <a:pt x="45511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241435" y="1061554"/>
            <a:ext cx="1277620" cy="372110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ctr" marL="710565">
              <a:lnSpc>
                <a:spcPts val="965"/>
              </a:lnSpc>
            </a:pPr>
            <a:r>
              <a:rPr dirty="0" sz="1100" spc="-50">
                <a:latin typeface="Tahoma"/>
                <a:cs typeface="Tahoma"/>
              </a:rPr>
              <a:t>1</a:t>
            </a:r>
            <a:endParaRPr sz="1100">
              <a:latin typeface="Tahoma"/>
              <a:cs typeface="Tahoma"/>
            </a:endParaRPr>
          </a:p>
          <a:p>
            <a:pPr marL="40005">
              <a:lnSpc>
                <a:spcPts val="745"/>
              </a:lnSpc>
            </a:pPr>
            <a:r>
              <a:rPr dirty="0" sz="1100" i="1">
                <a:latin typeface="Arial"/>
                <a:cs typeface="Arial"/>
              </a:rPr>
              <a:t>p</a:t>
            </a:r>
            <a:r>
              <a:rPr dirty="0" sz="1100" spc="3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 i="1">
                <a:latin typeface="Calibri"/>
                <a:cs typeface="Calibri"/>
              </a:rPr>
              <a:t>σ</a:t>
            </a:r>
            <a:r>
              <a:rPr dirty="0" sz="1100" spc="-10">
                <a:latin typeface="Tahoma"/>
                <a:cs typeface="Tahoma"/>
              </a:rPr>
              <a:t>(</a:t>
            </a:r>
            <a:r>
              <a:rPr dirty="0" sz="1100" spc="-10" i="1">
                <a:latin typeface="Arial"/>
                <a:cs typeface="Arial"/>
              </a:rPr>
              <a:t>z</a:t>
            </a:r>
            <a:r>
              <a:rPr dirty="0" sz="1100" spc="-21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)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  <a:p>
            <a:pPr algn="ctr" marL="695325">
              <a:lnSpc>
                <a:spcPts val="1035"/>
              </a:lnSpc>
            </a:pPr>
            <a:r>
              <a:rPr dirty="0" sz="1100" spc="-60">
                <a:latin typeface="Tahoma"/>
                <a:cs typeface="Tahoma"/>
              </a:rPr>
              <a:t>1</a:t>
            </a:r>
            <a:r>
              <a:rPr dirty="0" sz="1100" spc="-9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85">
                <a:latin typeface="Tahoma"/>
                <a:cs typeface="Tahoma"/>
              </a:rPr>
              <a:t> </a:t>
            </a:r>
            <a:r>
              <a:rPr dirty="0" sz="1100" spc="-25" i="1">
                <a:latin typeface="Arial"/>
                <a:cs typeface="Arial"/>
              </a:rPr>
              <a:t>e</a:t>
            </a:r>
            <a:r>
              <a:rPr dirty="0" baseline="20833" sz="1200" spc="-37" i="1">
                <a:latin typeface="Arial"/>
                <a:cs typeface="Arial"/>
              </a:rPr>
              <a:t>−z</a:t>
            </a:r>
            <a:endParaRPr baseline="20833"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557159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732876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908593"/>
            <a:ext cx="65265" cy="65265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87743" y="2091067"/>
            <a:ext cx="5584825" cy="198755"/>
          </a:xfrm>
          <a:custGeom>
            <a:avLst/>
            <a:gdLst/>
            <a:ahLst/>
            <a:cxnLst/>
            <a:rect l="l" t="t" r="r" b="b"/>
            <a:pathLst>
              <a:path w="5584825" h="198755">
                <a:moveTo>
                  <a:pt x="553377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5584580" y="198367"/>
                </a:lnTo>
                <a:lnTo>
                  <a:pt x="5584580" y="50800"/>
                </a:lnTo>
                <a:lnTo>
                  <a:pt x="5580571" y="31075"/>
                </a:lnTo>
                <a:lnTo>
                  <a:pt x="5569657" y="14922"/>
                </a:lnTo>
                <a:lnTo>
                  <a:pt x="5553504" y="4008"/>
                </a:lnTo>
                <a:lnTo>
                  <a:pt x="5533779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38544" y="2119515"/>
            <a:ext cx="522605" cy="1536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45"/>
              </a:lnSpc>
            </a:pPr>
            <a:r>
              <a:rPr dirty="0" sz="1200" spc="-70">
                <a:solidFill>
                  <a:srgbClr val="FFFFFF"/>
                </a:solidFill>
                <a:latin typeface="Tahoma"/>
                <a:cs typeface="Tahoma"/>
              </a:rPr>
              <a:t>Example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7743" y="2148005"/>
            <a:ext cx="5635625" cy="417195"/>
            <a:chOff x="87743" y="2148005"/>
            <a:chExt cx="5635625" cy="417195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743" y="2276779"/>
              <a:ext cx="5584580" cy="5060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38544" y="2148005"/>
              <a:ext cx="5584825" cy="417195"/>
            </a:xfrm>
            <a:custGeom>
              <a:avLst/>
              <a:gdLst/>
              <a:ahLst/>
              <a:cxnLst/>
              <a:rect l="l" t="t" r="r" b="b"/>
              <a:pathLst>
                <a:path w="5584825" h="417194">
                  <a:moveTo>
                    <a:pt x="5584580" y="0"/>
                  </a:moveTo>
                  <a:lnTo>
                    <a:pt x="0" y="0"/>
                  </a:lnTo>
                  <a:lnTo>
                    <a:pt x="0" y="416747"/>
                  </a:lnTo>
                  <a:lnTo>
                    <a:pt x="5584580" y="416747"/>
                  </a:lnTo>
                  <a:lnTo>
                    <a:pt x="55845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87743" y="2321067"/>
              <a:ext cx="5584825" cy="193040"/>
            </a:xfrm>
            <a:custGeom>
              <a:avLst/>
              <a:gdLst/>
              <a:ahLst/>
              <a:cxnLst/>
              <a:rect l="l" t="t" r="r" b="b"/>
              <a:pathLst>
                <a:path w="5584825" h="193039">
                  <a:moveTo>
                    <a:pt x="5584580" y="0"/>
                  </a:moveTo>
                  <a:lnTo>
                    <a:pt x="0" y="0"/>
                  </a:lnTo>
                  <a:lnTo>
                    <a:pt x="0" y="142084"/>
                  </a:lnTo>
                  <a:lnTo>
                    <a:pt x="4008" y="161809"/>
                  </a:lnTo>
                  <a:lnTo>
                    <a:pt x="14922" y="177962"/>
                  </a:lnTo>
                  <a:lnTo>
                    <a:pt x="31075" y="188876"/>
                  </a:lnTo>
                  <a:lnTo>
                    <a:pt x="50800" y="192885"/>
                  </a:lnTo>
                  <a:lnTo>
                    <a:pt x="5533779" y="192885"/>
                  </a:lnTo>
                  <a:lnTo>
                    <a:pt x="5553504" y="188876"/>
                  </a:lnTo>
                  <a:lnTo>
                    <a:pt x="5569657" y="177962"/>
                  </a:lnTo>
                  <a:lnTo>
                    <a:pt x="5580571" y="161809"/>
                  </a:lnTo>
                  <a:lnTo>
                    <a:pt x="5584580" y="142084"/>
                  </a:lnTo>
                  <a:lnTo>
                    <a:pt x="5584580" y="0"/>
                  </a:lnTo>
                  <a:close/>
                </a:path>
              </a:pathLst>
            </a:custGeom>
            <a:solidFill>
              <a:srgbClr val="E5EFE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138544" y="1464269"/>
            <a:ext cx="5584825" cy="1019175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276860">
              <a:lnSpc>
                <a:spcPct val="100000"/>
              </a:lnSpc>
              <a:spcBef>
                <a:spcPts val="165"/>
              </a:spcBef>
            </a:pPr>
            <a:r>
              <a:rPr dirty="0" sz="1100" i="1">
                <a:latin typeface="Arial"/>
                <a:cs typeface="Arial"/>
              </a:rPr>
              <a:t>z</a:t>
            </a:r>
            <a:r>
              <a:rPr dirty="0" sz="1100" spc="45" i="1">
                <a:latin typeface="Arial"/>
                <a:cs typeface="Arial"/>
              </a:rPr>
              <a:t> </a:t>
            </a:r>
            <a:r>
              <a:rPr dirty="0" sz="1100" spc="-20">
                <a:latin typeface="Tahoma"/>
                <a:cs typeface="Tahoma"/>
              </a:rPr>
              <a:t>can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be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any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real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number.</a:t>
            </a:r>
            <a:endParaRPr sz="1100">
              <a:latin typeface="Tahoma"/>
              <a:cs typeface="Tahoma"/>
            </a:endParaRPr>
          </a:p>
          <a:p>
            <a:pPr marL="276860">
              <a:lnSpc>
                <a:spcPct val="100000"/>
              </a:lnSpc>
              <a:spcBef>
                <a:spcPts val="60"/>
              </a:spcBef>
            </a:pPr>
            <a:r>
              <a:rPr dirty="0" sz="1100" i="1">
                <a:latin typeface="Arial"/>
                <a:cs typeface="Arial"/>
              </a:rPr>
              <a:t>p</a:t>
            </a:r>
            <a:r>
              <a:rPr dirty="0" sz="1100" spc="6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always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70">
                <a:latin typeface="Tahoma"/>
                <a:cs typeface="Tahoma"/>
              </a:rPr>
              <a:t>between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0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1.</a:t>
            </a:r>
            <a:endParaRPr sz="1100">
              <a:latin typeface="Tahoma"/>
              <a:cs typeface="Tahoma"/>
            </a:endParaRPr>
          </a:p>
          <a:p>
            <a:pPr marL="276860">
              <a:lnSpc>
                <a:spcPct val="100000"/>
              </a:lnSpc>
              <a:spcBef>
                <a:spcPts val="65"/>
              </a:spcBef>
            </a:pPr>
            <a:r>
              <a:rPr dirty="0" sz="1100">
                <a:latin typeface="Tahoma"/>
                <a:cs typeface="Tahoma"/>
              </a:rPr>
              <a:t>We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interpret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p</a:t>
            </a:r>
            <a:r>
              <a:rPr dirty="0" sz="1100" spc="35" i="1">
                <a:latin typeface="Arial"/>
                <a:cs typeface="Arial"/>
              </a:rPr>
              <a:t> </a:t>
            </a:r>
            <a:r>
              <a:rPr dirty="0" sz="1100" spc="-20">
                <a:latin typeface="Tahoma"/>
                <a:cs typeface="Tahoma"/>
              </a:rPr>
              <a:t>as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model’s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estimated </a:t>
            </a:r>
            <a:r>
              <a:rPr dirty="0" sz="1100" spc="-30">
                <a:latin typeface="Tahoma"/>
                <a:cs typeface="Tahoma"/>
              </a:rPr>
              <a:t>probability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class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1.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25"/>
              </a:spcBef>
            </a:pP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r>
              <a:rPr dirty="0" sz="1100" spc="-30">
                <a:latin typeface="Tahoma"/>
                <a:cs typeface="Tahoma"/>
              </a:rPr>
              <a:t>If </a:t>
            </a:r>
            <a:r>
              <a:rPr dirty="0" sz="1100" i="1">
                <a:latin typeface="Arial"/>
                <a:cs typeface="Arial"/>
              </a:rPr>
              <a:t>z</a:t>
            </a:r>
            <a:r>
              <a:rPr dirty="0" sz="1100" spc="4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8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0,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then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p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8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0</a:t>
            </a:r>
            <a:r>
              <a:rPr dirty="0" sz="1100" i="1">
                <a:latin typeface="Calibri"/>
                <a:cs typeface="Calibri"/>
              </a:rPr>
              <a:t>.</a:t>
            </a:r>
            <a:r>
              <a:rPr dirty="0" sz="1100">
                <a:latin typeface="Tahoma"/>
                <a:cs typeface="Tahoma"/>
              </a:rPr>
              <a:t>5.</a:t>
            </a:r>
            <a:r>
              <a:rPr dirty="0" sz="1100" spc="7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If </a:t>
            </a:r>
            <a:r>
              <a:rPr dirty="0" sz="1100" i="1">
                <a:latin typeface="Arial"/>
                <a:cs typeface="Arial"/>
              </a:rPr>
              <a:t>z</a:t>
            </a:r>
            <a:r>
              <a:rPr dirty="0" sz="1100" spc="9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positive, </a:t>
            </a:r>
            <a:r>
              <a:rPr dirty="0" sz="1100" i="1">
                <a:latin typeface="Arial"/>
                <a:cs typeface="Arial"/>
              </a:rPr>
              <a:t>p </a:t>
            </a:r>
            <a:r>
              <a:rPr dirty="0" sz="1100" spc="295" i="1">
                <a:latin typeface="Calibri"/>
                <a:cs typeface="Calibri"/>
              </a:rPr>
              <a:t>&gt;</a:t>
            </a:r>
            <a:r>
              <a:rPr dirty="0" sz="1100" spc="15" i="1">
                <a:latin typeface="Calibri"/>
                <a:cs typeface="Calibri"/>
              </a:rPr>
              <a:t> </a:t>
            </a:r>
            <a:r>
              <a:rPr dirty="0" sz="1100" spc="-35">
                <a:latin typeface="Tahoma"/>
                <a:cs typeface="Tahoma"/>
              </a:rPr>
              <a:t>0</a:t>
            </a:r>
            <a:r>
              <a:rPr dirty="0" sz="1100" spc="-35" i="1">
                <a:latin typeface="Calibri"/>
                <a:cs typeface="Calibri"/>
              </a:rPr>
              <a:t>.</a:t>
            </a:r>
            <a:r>
              <a:rPr dirty="0" sz="1100" spc="-35">
                <a:latin typeface="Tahoma"/>
                <a:cs typeface="Tahoma"/>
              </a:rPr>
              <a:t>5;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if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z</a:t>
            </a:r>
            <a:r>
              <a:rPr dirty="0" sz="1100" spc="9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negative,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p </a:t>
            </a:r>
            <a:r>
              <a:rPr dirty="0" sz="1100" spc="295" i="1">
                <a:latin typeface="Calibri"/>
                <a:cs typeface="Calibri"/>
              </a:rPr>
              <a:t>&lt;</a:t>
            </a:r>
            <a:r>
              <a:rPr dirty="0" sz="1100" spc="10" i="1">
                <a:latin typeface="Calibri"/>
                <a:cs typeface="Calibri"/>
              </a:rPr>
              <a:t> </a:t>
            </a:r>
            <a:r>
              <a:rPr dirty="0" sz="1100" spc="-20">
                <a:latin typeface="Tahoma"/>
                <a:cs typeface="Tahoma"/>
              </a:rPr>
              <a:t>0</a:t>
            </a:r>
            <a:r>
              <a:rPr dirty="0" sz="1100" spc="-20" i="1">
                <a:latin typeface="Calibri"/>
                <a:cs typeface="Calibri"/>
              </a:rPr>
              <a:t>.</a:t>
            </a:r>
            <a:r>
              <a:rPr dirty="0" sz="1100" spc="-20">
                <a:latin typeface="Tahoma"/>
                <a:cs typeface="Tahoma"/>
              </a:rPr>
              <a:t>5.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7743" y="2631553"/>
            <a:ext cx="5584825" cy="187960"/>
          </a:xfrm>
          <a:custGeom>
            <a:avLst/>
            <a:gdLst/>
            <a:ahLst/>
            <a:cxnLst/>
            <a:rect l="l" t="t" r="r" b="b"/>
            <a:pathLst>
              <a:path w="5584825" h="187960">
                <a:moveTo>
                  <a:pt x="553377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5584580" y="187823"/>
                </a:lnTo>
                <a:lnTo>
                  <a:pt x="5584580" y="50800"/>
                </a:lnTo>
                <a:lnTo>
                  <a:pt x="5580571" y="31075"/>
                </a:lnTo>
                <a:lnTo>
                  <a:pt x="5569657" y="14922"/>
                </a:lnTo>
                <a:lnTo>
                  <a:pt x="5553504" y="4008"/>
                </a:lnTo>
                <a:lnTo>
                  <a:pt x="5533779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38544" y="2660001"/>
            <a:ext cx="227965" cy="1536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45"/>
              </a:lnSpc>
            </a:pPr>
            <a:r>
              <a:rPr dirty="0" sz="1200" spc="-45">
                <a:solidFill>
                  <a:srgbClr val="FFFFFF"/>
                </a:solidFill>
                <a:latin typeface="Tahoma"/>
                <a:cs typeface="Tahoma"/>
              </a:rPr>
              <a:t>Ask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87743" y="2688481"/>
            <a:ext cx="5635625" cy="406400"/>
            <a:chOff x="87743" y="2688481"/>
            <a:chExt cx="5635625" cy="406400"/>
          </a:xfrm>
        </p:grpSpPr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743" y="2806725"/>
              <a:ext cx="5584580" cy="5060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38544" y="2688481"/>
              <a:ext cx="5584825" cy="406400"/>
            </a:xfrm>
            <a:custGeom>
              <a:avLst/>
              <a:gdLst/>
              <a:ahLst/>
              <a:cxnLst/>
              <a:rect l="l" t="t" r="r" b="b"/>
              <a:pathLst>
                <a:path w="5584825" h="406400">
                  <a:moveTo>
                    <a:pt x="5584580" y="0"/>
                  </a:moveTo>
                  <a:lnTo>
                    <a:pt x="0" y="0"/>
                  </a:lnTo>
                  <a:lnTo>
                    <a:pt x="0" y="406204"/>
                  </a:lnTo>
                  <a:lnTo>
                    <a:pt x="5584580" y="406204"/>
                  </a:lnTo>
                  <a:lnTo>
                    <a:pt x="55845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87743" y="2851000"/>
              <a:ext cx="5584825" cy="193040"/>
            </a:xfrm>
            <a:custGeom>
              <a:avLst/>
              <a:gdLst/>
              <a:ahLst/>
              <a:cxnLst/>
              <a:rect l="l" t="t" r="r" b="b"/>
              <a:pathLst>
                <a:path w="5584825" h="193039">
                  <a:moveTo>
                    <a:pt x="5584580" y="0"/>
                  </a:moveTo>
                  <a:lnTo>
                    <a:pt x="0" y="0"/>
                  </a:lnTo>
                  <a:lnTo>
                    <a:pt x="0" y="142084"/>
                  </a:lnTo>
                  <a:lnTo>
                    <a:pt x="4008" y="161809"/>
                  </a:lnTo>
                  <a:lnTo>
                    <a:pt x="14922" y="177962"/>
                  </a:lnTo>
                  <a:lnTo>
                    <a:pt x="31075" y="188876"/>
                  </a:lnTo>
                  <a:lnTo>
                    <a:pt x="50800" y="192885"/>
                  </a:lnTo>
                  <a:lnTo>
                    <a:pt x="5533779" y="192885"/>
                  </a:lnTo>
                  <a:lnTo>
                    <a:pt x="5553504" y="188876"/>
                  </a:lnTo>
                  <a:lnTo>
                    <a:pt x="5569657" y="177962"/>
                  </a:lnTo>
                  <a:lnTo>
                    <a:pt x="5580571" y="161809"/>
                  </a:lnTo>
                  <a:lnTo>
                    <a:pt x="5584580" y="142084"/>
                  </a:lnTo>
                  <a:lnTo>
                    <a:pt x="5584580" y="0"/>
                  </a:lnTo>
                  <a:close/>
                </a:path>
              </a:pathLst>
            </a:custGeom>
            <a:solidFill>
              <a:srgbClr val="F8E5E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125844" y="2854667"/>
            <a:ext cx="4222115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spc="-25">
                <a:latin typeface="Tahoma"/>
                <a:cs typeface="Tahoma"/>
              </a:rPr>
              <a:t>Does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40">
                <a:latin typeface="Tahoma"/>
                <a:cs typeface="Tahoma"/>
              </a:rPr>
              <a:t> predicted </a:t>
            </a:r>
            <a:r>
              <a:rPr dirty="0" sz="1100" spc="-30">
                <a:latin typeface="Tahoma"/>
                <a:cs typeface="Tahoma"/>
              </a:rPr>
              <a:t>probability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0</a:t>
            </a:r>
            <a:r>
              <a:rPr dirty="0" sz="1100" i="1">
                <a:latin typeface="Calibri"/>
                <a:cs typeface="Calibri"/>
              </a:rPr>
              <a:t>.</a:t>
            </a:r>
            <a:r>
              <a:rPr dirty="0" sz="1100">
                <a:latin typeface="Tahoma"/>
                <a:cs typeface="Tahoma"/>
              </a:rPr>
              <a:t>8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guarantee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that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student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will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pass?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675"/>
              </a:lnSpc>
            </a:pPr>
            <a:fld id="{81D60167-4931-47E6-BA6A-407CBD079E47}" type="slidenum">
              <a:rPr dirty="0" spc="-10"/>
              <a:t>11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From</a:t>
            </a:r>
            <a:r>
              <a:rPr dirty="0" spc="-50"/>
              <a:t> </a:t>
            </a:r>
            <a:r>
              <a:rPr dirty="0" spc="-35"/>
              <a:t>probability</a:t>
            </a:r>
            <a:r>
              <a:rPr dirty="0" spc="-50"/>
              <a:t> </a:t>
            </a:r>
            <a:r>
              <a:rPr dirty="0"/>
              <a:t>to</a:t>
            </a:r>
            <a:r>
              <a:rPr dirty="0" spc="-45"/>
              <a:t> </a:t>
            </a:r>
            <a:r>
              <a:rPr dirty="0"/>
              <a:t>a</a:t>
            </a:r>
            <a:r>
              <a:rPr dirty="0" spc="-50"/>
              <a:t> </a:t>
            </a:r>
            <a:r>
              <a:rPr dirty="0" spc="-35"/>
              <a:t>class</a:t>
            </a:r>
            <a:r>
              <a:rPr dirty="0" spc="-45"/>
              <a:t> </a:t>
            </a:r>
            <a:r>
              <a:rPr dirty="0" spc="-35"/>
              <a:t>decision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641539"/>
            <a:ext cx="3318510" cy="36385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 spc="-45">
                <a:latin typeface="Tahoma"/>
                <a:cs typeface="Tahoma"/>
              </a:rPr>
              <a:t>Suppose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logistic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regression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predicts </a:t>
            </a:r>
            <a:r>
              <a:rPr dirty="0" sz="1100" i="1">
                <a:latin typeface="Arial"/>
                <a:cs typeface="Arial"/>
              </a:rPr>
              <a:t>p</a:t>
            </a:r>
            <a:r>
              <a:rPr dirty="0" sz="1100" spc="-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8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0</a:t>
            </a:r>
            <a:r>
              <a:rPr dirty="0" sz="1100" spc="-20" i="1">
                <a:latin typeface="Calibri"/>
                <a:cs typeface="Calibri"/>
              </a:rPr>
              <a:t>.</a:t>
            </a:r>
            <a:r>
              <a:rPr dirty="0" sz="1100" spc="-20">
                <a:latin typeface="Tahoma"/>
                <a:cs typeface="Tahoma"/>
              </a:rPr>
              <a:t>73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for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passing. </a:t>
            </a:r>
            <a:r>
              <a:rPr dirty="0" sz="1100">
                <a:latin typeface="Tahoma"/>
                <a:cs typeface="Tahoma"/>
              </a:rPr>
              <a:t>With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threshold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20">
                <a:latin typeface="Tahoma"/>
                <a:cs typeface="Tahoma"/>
              </a:rPr>
              <a:t> 0</a:t>
            </a:r>
            <a:r>
              <a:rPr dirty="0" sz="1100" spc="-20" i="1">
                <a:latin typeface="Calibri"/>
                <a:cs typeface="Calibri"/>
              </a:rPr>
              <a:t>.</a:t>
            </a:r>
            <a:r>
              <a:rPr dirty="0" sz="1100" spc="-20">
                <a:latin typeface="Tahoma"/>
                <a:cs typeface="Tahoma"/>
              </a:rPr>
              <a:t>5: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12440" y="831810"/>
            <a:ext cx="1371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459">
                <a:latin typeface="Arial"/>
                <a:cs typeface="Arial"/>
              </a:rPr>
              <a:t>(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48786" y="1068728"/>
            <a:ext cx="2508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70" i="1">
                <a:latin typeface="Arial"/>
                <a:cs typeface="Arial"/>
              </a:rPr>
              <a:t>y</a:t>
            </a:r>
            <a:r>
              <a:rPr dirty="0" sz="1100" spc="-270">
                <a:latin typeface="Tahoma"/>
                <a:cs typeface="Tahoma"/>
              </a:rPr>
              <a:t>ˆ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24048" y="931910"/>
            <a:ext cx="672465" cy="438784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  <a:tabLst>
                <a:tab pos="220345" algn="l"/>
              </a:tabLst>
            </a:pPr>
            <a:r>
              <a:rPr dirty="0" sz="1100" spc="-50">
                <a:latin typeface="Tahoma"/>
                <a:cs typeface="Tahoma"/>
              </a:rPr>
              <a:t>1</a:t>
            </a:r>
            <a:r>
              <a:rPr dirty="0" sz="1100">
                <a:latin typeface="Tahoma"/>
                <a:cs typeface="Tahoma"/>
              </a:rPr>
              <a:t>	</a:t>
            </a:r>
            <a:r>
              <a:rPr dirty="0" sz="1100" i="1">
                <a:latin typeface="Arial"/>
                <a:cs typeface="Arial"/>
              </a:rPr>
              <a:t>p</a:t>
            </a:r>
            <a:r>
              <a:rPr dirty="0" sz="1100" spc="10" i="1">
                <a:latin typeface="Arial"/>
                <a:cs typeface="Arial"/>
              </a:rPr>
              <a:t> </a:t>
            </a:r>
            <a:r>
              <a:rPr dirty="0" sz="1100" spc="245" i="1">
                <a:latin typeface="Arial Narrow"/>
                <a:cs typeface="Arial Narrow"/>
              </a:rPr>
              <a:t>≥</a:t>
            </a:r>
            <a:r>
              <a:rPr dirty="0" sz="1100" spc="25" i="1">
                <a:latin typeface="Arial Narrow"/>
                <a:cs typeface="Arial Narrow"/>
              </a:rPr>
              <a:t> </a:t>
            </a:r>
            <a:r>
              <a:rPr dirty="0" sz="1100" spc="-25">
                <a:latin typeface="Tahoma"/>
                <a:cs typeface="Tahoma"/>
              </a:rPr>
              <a:t>0</a:t>
            </a:r>
            <a:r>
              <a:rPr dirty="0" sz="1100" spc="-25" i="1">
                <a:latin typeface="Calibri"/>
                <a:cs typeface="Calibri"/>
              </a:rPr>
              <a:t>.</a:t>
            </a:r>
            <a:r>
              <a:rPr dirty="0" sz="1100" spc="-25">
                <a:latin typeface="Tahoma"/>
                <a:cs typeface="Tahoma"/>
              </a:rPr>
              <a:t>5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  <a:tabLst>
                <a:tab pos="220345" algn="l"/>
              </a:tabLst>
            </a:pPr>
            <a:r>
              <a:rPr dirty="0" sz="1100" spc="-50">
                <a:latin typeface="Tahoma"/>
                <a:cs typeface="Tahoma"/>
              </a:rPr>
              <a:t>0</a:t>
            </a:r>
            <a:r>
              <a:rPr dirty="0" sz="1100">
                <a:latin typeface="Tahoma"/>
                <a:cs typeface="Tahoma"/>
              </a:rPr>
              <a:t>	</a:t>
            </a:r>
            <a:r>
              <a:rPr dirty="0" sz="1100" i="1">
                <a:latin typeface="Arial"/>
                <a:cs typeface="Arial"/>
              </a:rPr>
              <a:t>p</a:t>
            </a:r>
            <a:r>
              <a:rPr dirty="0" sz="1100" spc="10" i="1">
                <a:latin typeface="Arial"/>
                <a:cs typeface="Arial"/>
              </a:rPr>
              <a:t> </a:t>
            </a:r>
            <a:r>
              <a:rPr dirty="0" sz="1100" spc="295" i="1">
                <a:latin typeface="Calibri"/>
                <a:cs typeface="Calibri"/>
              </a:rPr>
              <a:t>&lt;</a:t>
            </a:r>
            <a:r>
              <a:rPr dirty="0" sz="1100" spc="25" i="1">
                <a:latin typeface="Calibri"/>
                <a:cs typeface="Calibri"/>
              </a:rPr>
              <a:t> </a:t>
            </a:r>
            <a:r>
              <a:rPr dirty="0" sz="1100" spc="-25">
                <a:latin typeface="Tahoma"/>
                <a:cs typeface="Tahoma"/>
              </a:rPr>
              <a:t>0</a:t>
            </a:r>
            <a:r>
              <a:rPr dirty="0" sz="1100" spc="-25" i="1">
                <a:latin typeface="Calibri"/>
                <a:cs typeface="Calibri"/>
              </a:rPr>
              <a:t>.</a:t>
            </a:r>
            <a:r>
              <a:rPr dirty="0" sz="1100" spc="-25">
                <a:latin typeface="Tahoma"/>
                <a:cs typeface="Tahoma"/>
              </a:rPr>
              <a:t>5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7743" y="1712467"/>
            <a:ext cx="5584825" cy="198755"/>
          </a:xfrm>
          <a:custGeom>
            <a:avLst/>
            <a:gdLst/>
            <a:ahLst/>
            <a:cxnLst/>
            <a:rect l="l" t="t" r="r" b="b"/>
            <a:pathLst>
              <a:path w="5584825" h="198755">
                <a:moveTo>
                  <a:pt x="553377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5584580" y="198367"/>
                </a:lnTo>
                <a:lnTo>
                  <a:pt x="5584580" y="50800"/>
                </a:lnTo>
                <a:lnTo>
                  <a:pt x="5580571" y="31075"/>
                </a:lnTo>
                <a:lnTo>
                  <a:pt x="5569657" y="14922"/>
                </a:lnTo>
                <a:lnTo>
                  <a:pt x="5553504" y="4008"/>
                </a:lnTo>
                <a:lnTo>
                  <a:pt x="5533779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38544" y="1740915"/>
            <a:ext cx="1609090" cy="1536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45"/>
              </a:lnSpc>
            </a:pPr>
            <a:r>
              <a:rPr dirty="0" sz="1200">
                <a:solidFill>
                  <a:srgbClr val="FFFFFF"/>
                </a:solidFill>
                <a:latin typeface="Tahoma"/>
                <a:cs typeface="Tahoma"/>
              </a:rPr>
              <a:t>Think</a:t>
            </a:r>
            <a:r>
              <a:rPr dirty="0" sz="1200" spc="-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80">
                <a:solidFill>
                  <a:srgbClr val="FFFFFF"/>
                </a:solidFill>
                <a:latin typeface="Tahoma"/>
                <a:cs typeface="Tahoma"/>
              </a:rPr>
              <a:t>beyond</a:t>
            </a:r>
            <a:r>
              <a:rPr dirty="0" sz="1200" spc="-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4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dirty="0" sz="1200" spc="-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65">
                <a:solidFill>
                  <a:srgbClr val="FFFFFF"/>
                </a:solidFill>
                <a:latin typeface="Tahoma"/>
                <a:cs typeface="Tahoma"/>
              </a:rPr>
              <a:t>formula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7743" y="1769400"/>
            <a:ext cx="5635625" cy="589280"/>
            <a:chOff x="87743" y="1769400"/>
            <a:chExt cx="5635625" cy="58928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1898180"/>
              <a:ext cx="5584580" cy="5060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38544" y="1769400"/>
              <a:ext cx="5584825" cy="589280"/>
            </a:xfrm>
            <a:custGeom>
              <a:avLst/>
              <a:gdLst/>
              <a:ahLst/>
              <a:cxnLst/>
              <a:rect l="l" t="t" r="r" b="b"/>
              <a:pathLst>
                <a:path w="5584825" h="589280">
                  <a:moveTo>
                    <a:pt x="5584580" y="0"/>
                  </a:moveTo>
                  <a:lnTo>
                    <a:pt x="0" y="0"/>
                  </a:lnTo>
                  <a:lnTo>
                    <a:pt x="0" y="588824"/>
                  </a:lnTo>
                  <a:lnTo>
                    <a:pt x="5584580" y="588824"/>
                  </a:lnTo>
                  <a:lnTo>
                    <a:pt x="55845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87743" y="1942463"/>
              <a:ext cx="5584825" cy="365125"/>
            </a:xfrm>
            <a:custGeom>
              <a:avLst/>
              <a:gdLst/>
              <a:ahLst/>
              <a:cxnLst/>
              <a:rect l="l" t="t" r="r" b="b"/>
              <a:pathLst>
                <a:path w="5584825" h="365125">
                  <a:moveTo>
                    <a:pt x="5584580" y="0"/>
                  </a:moveTo>
                  <a:lnTo>
                    <a:pt x="0" y="0"/>
                  </a:lnTo>
                  <a:lnTo>
                    <a:pt x="0" y="314161"/>
                  </a:lnTo>
                  <a:lnTo>
                    <a:pt x="4008" y="333886"/>
                  </a:lnTo>
                  <a:lnTo>
                    <a:pt x="14922" y="350039"/>
                  </a:lnTo>
                  <a:lnTo>
                    <a:pt x="31075" y="360953"/>
                  </a:lnTo>
                  <a:lnTo>
                    <a:pt x="50800" y="364962"/>
                  </a:lnTo>
                  <a:lnTo>
                    <a:pt x="5533779" y="364962"/>
                  </a:lnTo>
                  <a:lnTo>
                    <a:pt x="5553504" y="360953"/>
                  </a:lnTo>
                  <a:lnTo>
                    <a:pt x="5569657" y="350039"/>
                  </a:lnTo>
                  <a:lnTo>
                    <a:pt x="5580571" y="333886"/>
                  </a:lnTo>
                  <a:lnTo>
                    <a:pt x="5584580" y="314161"/>
                  </a:lnTo>
                  <a:lnTo>
                    <a:pt x="5584580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125844" y="1433015"/>
            <a:ext cx="5597525" cy="13100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So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this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example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classified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as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0" b="1">
                <a:latin typeface="Gill Sans MT"/>
                <a:cs typeface="Gill Sans MT"/>
              </a:rPr>
              <a:t>Pass</a:t>
            </a:r>
            <a:r>
              <a:rPr dirty="0" sz="1100" spc="-2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90"/>
              </a:spcBef>
            </a:pPr>
            <a:endParaRPr sz="1100">
              <a:latin typeface="Tahoma"/>
              <a:cs typeface="Tahoma"/>
            </a:endParaRPr>
          </a:p>
          <a:p>
            <a:pPr marL="12700" marR="111125">
              <a:lnSpc>
                <a:spcPct val="102699"/>
              </a:lnSpc>
              <a:spcBef>
                <a:spcPts val="5"/>
              </a:spcBef>
            </a:pPr>
            <a:r>
              <a:rPr dirty="0" sz="1100" spc="-10">
                <a:latin typeface="Tahoma"/>
                <a:cs typeface="Tahoma"/>
              </a:rPr>
              <a:t>Would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hospital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65">
                <a:latin typeface="Tahoma"/>
                <a:cs typeface="Tahoma"/>
              </a:rPr>
              <a:t>use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same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threshold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flag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possible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serious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disease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as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website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uses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to </a:t>
            </a:r>
            <a:r>
              <a:rPr dirty="0" sz="1100" spc="-30">
                <a:latin typeface="Tahoma"/>
                <a:cs typeface="Tahoma"/>
              </a:rPr>
              <a:t>classify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50">
                <a:latin typeface="Tahoma"/>
                <a:cs typeface="Tahoma"/>
              </a:rPr>
              <a:t> spam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email?</a:t>
            </a:r>
            <a:r>
              <a:rPr dirty="0" sz="1100" spc="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Why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might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threshold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differ?</a:t>
            </a:r>
            <a:endParaRPr sz="1100">
              <a:latin typeface="Tahoma"/>
              <a:cs typeface="Tahoma"/>
            </a:endParaRPr>
          </a:p>
          <a:p>
            <a:pPr marL="12700" marR="492759">
              <a:lnSpc>
                <a:spcPct val="102600"/>
              </a:lnSpc>
              <a:spcBef>
                <a:spcPts val="960"/>
              </a:spcBef>
            </a:pP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threshold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decision </a:t>
            </a:r>
            <a:r>
              <a:rPr dirty="0" sz="1100" spc="-25">
                <a:latin typeface="Tahoma"/>
                <a:cs typeface="Tahoma"/>
              </a:rPr>
              <a:t>choice.</a:t>
            </a:r>
            <a:r>
              <a:rPr dirty="0" sz="1100" spc="6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probability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model’s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output;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final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class </a:t>
            </a:r>
            <a:r>
              <a:rPr dirty="0" sz="1100" spc="-65">
                <a:latin typeface="Tahoma"/>
                <a:cs typeface="Tahoma"/>
              </a:rPr>
              <a:t>depends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on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how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95">
                <a:latin typeface="Tahoma"/>
                <a:cs typeface="Tahoma"/>
              </a:rPr>
              <a:t>we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65">
                <a:latin typeface="Tahoma"/>
                <a:cs typeface="Tahoma"/>
              </a:rPr>
              <a:t>use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it.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675"/>
              </a:lnSpc>
            </a:pPr>
            <a:fld id="{81D60167-4931-47E6-BA6A-407CBD079E47}" type="slidenum">
              <a:rPr dirty="0" spc="-10"/>
              <a:t>12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59877"/>
            <a:ext cx="3368675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0"/>
              <a:t>How</a:t>
            </a:r>
            <a:r>
              <a:rPr dirty="0" spc="-75"/>
              <a:t> </a:t>
            </a:r>
            <a:r>
              <a:rPr dirty="0"/>
              <a:t>do</a:t>
            </a:r>
            <a:r>
              <a:rPr dirty="0" spc="-35"/>
              <a:t> </a:t>
            </a:r>
            <a:r>
              <a:rPr dirty="0" spc="-114"/>
              <a:t>we</a:t>
            </a:r>
            <a:r>
              <a:rPr dirty="0" spc="10"/>
              <a:t> </a:t>
            </a:r>
            <a:r>
              <a:rPr dirty="0" spc="-65"/>
              <a:t>measure</a:t>
            </a:r>
            <a:r>
              <a:rPr dirty="0" spc="-35"/>
              <a:t> </a:t>
            </a:r>
            <a:r>
              <a:rPr dirty="0" spc="-50"/>
              <a:t>logistic-</a:t>
            </a:r>
            <a:r>
              <a:rPr dirty="0" spc="-45"/>
              <a:t>regression</a:t>
            </a:r>
            <a:r>
              <a:rPr dirty="0" spc="-35"/>
              <a:t> </a:t>
            </a:r>
            <a:r>
              <a:rPr dirty="0" spc="-30"/>
              <a:t>error?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582598"/>
            <a:ext cx="29794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55">
                <a:latin typeface="Tahoma"/>
                <a:cs typeface="Tahoma"/>
              </a:rPr>
              <a:t>A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common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loss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5" b="1">
                <a:latin typeface="Gill Sans MT"/>
                <a:cs typeface="Gill Sans MT"/>
              </a:rPr>
              <a:t>binary</a:t>
            </a:r>
            <a:r>
              <a:rPr dirty="0" sz="1100" spc="30" b="1">
                <a:latin typeface="Gill Sans MT"/>
                <a:cs typeface="Gill Sans MT"/>
              </a:rPr>
              <a:t> </a:t>
            </a:r>
            <a:r>
              <a:rPr dirty="0" sz="1100" spc="-35" b="1">
                <a:latin typeface="Gill Sans MT"/>
                <a:cs typeface="Gill Sans MT"/>
              </a:rPr>
              <a:t>cross-</a:t>
            </a:r>
            <a:r>
              <a:rPr dirty="0" sz="1100" spc="-30" b="1">
                <a:latin typeface="Gill Sans MT"/>
                <a:cs typeface="Gill Sans MT"/>
              </a:rPr>
              <a:t>entropy</a:t>
            </a:r>
            <a:r>
              <a:rPr dirty="0" sz="1100" spc="20" b="1">
                <a:latin typeface="Gill Sans MT"/>
                <a:cs typeface="Gill Sans MT"/>
              </a:rPr>
              <a:t> </a:t>
            </a:r>
            <a:r>
              <a:rPr dirty="0" sz="1100" spc="-10">
                <a:latin typeface="Tahoma"/>
                <a:cs typeface="Tahoma"/>
              </a:rPr>
              <a:t>(log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loss):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78292" y="933602"/>
            <a:ext cx="2203450" cy="219710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wrap="square" lIns="0" tIns="4445" rIns="0" bIns="0" rtlCol="0" vert="horz">
            <a:spAutoFit/>
          </a:bodyPr>
          <a:lstStyle/>
          <a:p>
            <a:pPr marL="40005">
              <a:lnSpc>
                <a:spcPct val="100000"/>
              </a:lnSpc>
              <a:spcBef>
                <a:spcPts val="35"/>
              </a:spcBef>
            </a:pPr>
            <a:r>
              <a:rPr dirty="0" sz="1100" i="1">
                <a:latin typeface="Arial"/>
                <a:cs typeface="Arial"/>
              </a:rPr>
              <a:t>L</a:t>
            </a:r>
            <a:r>
              <a:rPr dirty="0" sz="1100" spc="1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50" i="1">
                <a:latin typeface="Arial Narrow"/>
                <a:cs typeface="Arial Narrow"/>
              </a:rPr>
              <a:t>−</a:t>
            </a:r>
            <a:r>
              <a:rPr dirty="0" sz="1100" spc="50">
                <a:latin typeface="Tahoma"/>
                <a:cs typeface="Tahoma"/>
              </a:rPr>
              <a:t>[</a:t>
            </a:r>
            <a:r>
              <a:rPr dirty="0" sz="1100" spc="50" i="1">
                <a:latin typeface="Arial"/>
                <a:cs typeface="Arial"/>
              </a:rPr>
              <a:t>y</a:t>
            </a:r>
            <a:r>
              <a:rPr dirty="0" sz="1100" spc="10" i="1">
                <a:latin typeface="Arial"/>
                <a:cs typeface="Arial"/>
              </a:rPr>
              <a:t> </a:t>
            </a:r>
            <a:r>
              <a:rPr dirty="0" sz="1100" spc="-30">
                <a:latin typeface="Tahoma"/>
                <a:cs typeface="Tahoma"/>
              </a:rPr>
              <a:t>log(</a:t>
            </a:r>
            <a:r>
              <a:rPr dirty="0" sz="1100" spc="-30" i="1">
                <a:latin typeface="Arial"/>
                <a:cs typeface="Arial"/>
              </a:rPr>
              <a:t>p</a:t>
            </a:r>
            <a:r>
              <a:rPr dirty="0" sz="1100" spc="-30">
                <a:latin typeface="Tahoma"/>
                <a:cs typeface="Tahoma"/>
              </a:rPr>
              <a:t>)</a:t>
            </a:r>
            <a:r>
              <a:rPr dirty="0" sz="1100" spc="-9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8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(1</a:t>
            </a:r>
            <a:r>
              <a:rPr dirty="0" sz="1100" spc="-90">
                <a:latin typeface="Tahoma"/>
                <a:cs typeface="Tahoma"/>
              </a:rPr>
              <a:t> </a:t>
            </a:r>
            <a:r>
              <a:rPr dirty="0" sz="1100" spc="320" i="1">
                <a:latin typeface="Arial Narrow"/>
                <a:cs typeface="Arial Narrow"/>
              </a:rPr>
              <a:t>−</a:t>
            </a:r>
            <a:r>
              <a:rPr dirty="0" sz="1100" spc="5" i="1">
                <a:latin typeface="Arial Narrow"/>
                <a:cs typeface="Arial Narrow"/>
              </a:rPr>
              <a:t> </a:t>
            </a:r>
            <a:r>
              <a:rPr dirty="0" sz="1100" spc="-55" i="1">
                <a:latin typeface="Arial"/>
                <a:cs typeface="Arial"/>
              </a:rPr>
              <a:t>y</a:t>
            </a:r>
            <a:r>
              <a:rPr dirty="0" sz="1100" spc="-180" i="1">
                <a:latin typeface="Arial"/>
                <a:cs typeface="Arial"/>
              </a:rPr>
              <a:t> </a:t>
            </a:r>
            <a:r>
              <a:rPr dirty="0" sz="1100" spc="-10">
                <a:latin typeface="Tahoma"/>
                <a:cs typeface="Tahoma"/>
              </a:rPr>
              <a:t>)</a:t>
            </a:r>
            <a:r>
              <a:rPr dirty="0" sz="1100" spc="-15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log(1</a:t>
            </a:r>
            <a:r>
              <a:rPr dirty="0" sz="1100" spc="-85">
                <a:latin typeface="Tahoma"/>
                <a:cs typeface="Tahoma"/>
              </a:rPr>
              <a:t> </a:t>
            </a:r>
            <a:r>
              <a:rPr dirty="0" sz="1100" spc="320" i="1">
                <a:latin typeface="Arial Narrow"/>
                <a:cs typeface="Arial Narrow"/>
              </a:rPr>
              <a:t>−</a:t>
            </a:r>
            <a:r>
              <a:rPr dirty="0" sz="1100" spc="5" i="1">
                <a:latin typeface="Arial Narrow"/>
                <a:cs typeface="Arial Narrow"/>
              </a:rPr>
              <a:t> </a:t>
            </a:r>
            <a:r>
              <a:rPr dirty="0" sz="1100" spc="-25" i="1">
                <a:latin typeface="Arial"/>
                <a:cs typeface="Arial"/>
              </a:rPr>
              <a:t>p</a:t>
            </a:r>
            <a:r>
              <a:rPr dirty="0" sz="1100" spc="-25">
                <a:latin typeface="Tahoma"/>
                <a:cs typeface="Tahoma"/>
              </a:rPr>
              <a:t>)]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488998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699031"/>
            <a:ext cx="65265" cy="65265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87743" y="1940686"/>
            <a:ext cx="5584825" cy="215265"/>
          </a:xfrm>
          <a:custGeom>
            <a:avLst/>
            <a:gdLst/>
            <a:ahLst/>
            <a:cxnLst/>
            <a:rect l="l" t="t" r="r" b="b"/>
            <a:pathLst>
              <a:path w="5584825" h="215264">
                <a:moveTo>
                  <a:pt x="553377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5238"/>
                </a:lnTo>
                <a:lnTo>
                  <a:pt x="5584580" y="215238"/>
                </a:lnTo>
                <a:lnTo>
                  <a:pt x="5584580" y="50800"/>
                </a:lnTo>
                <a:lnTo>
                  <a:pt x="5580571" y="31075"/>
                </a:lnTo>
                <a:lnTo>
                  <a:pt x="5569657" y="14922"/>
                </a:lnTo>
                <a:lnTo>
                  <a:pt x="5553504" y="4008"/>
                </a:lnTo>
                <a:lnTo>
                  <a:pt x="5533779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38544" y="1977567"/>
            <a:ext cx="1728470" cy="1536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45"/>
              </a:lnSpc>
            </a:pPr>
            <a:r>
              <a:rPr dirty="0" sz="1200" spc="-10">
                <a:solidFill>
                  <a:srgbClr val="FFFFFF"/>
                </a:solidFill>
                <a:latin typeface="Tahoma"/>
                <a:cs typeface="Tahoma"/>
              </a:rPr>
              <a:t>Actual</a:t>
            </a:r>
            <a:r>
              <a:rPr dirty="0" sz="1200" spc="-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40">
                <a:solidFill>
                  <a:srgbClr val="FFFFFF"/>
                </a:solidFill>
                <a:latin typeface="Tahoma"/>
                <a:cs typeface="Tahoma"/>
              </a:rPr>
              <a:t>label</a:t>
            </a:r>
            <a:r>
              <a:rPr dirty="0" sz="1200" spc="-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dirty="0" sz="1200" spc="-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35">
                <a:solidFill>
                  <a:srgbClr val="FFFFFF"/>
                </a:solidFill>
                <a:latin typeface="Tahoma"/>
                <a:cs typeface="Tahoma"/>
              </a:rPr>
              <a:t>Pass</a:t>
            </a:r>
            <a:r>
              <a:rPr dirty="0" sz="1200" spc="-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dirty="0" sz="1200" i="1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dirty="0" sz="1200" spc="14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Tahoma"/>
                <a:cs typeface="Tahoma"/>
              </a:rPr>
              <a:t>=</a:t>
            </a:r>
            <a:r>
              <a:rPr dirty="0" sz="1200" spc="-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FFFFFF"/>
                </a:solidFill>
                <a:latin typeface="Tahoma"/>
                <a:cs typeface="Tahoma"/>
              </a:rPr>
              <a:t>1)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7743" y="1997613"/>
            <a:ext cx="5635625" cy="621665"/>
            <a:chOff x="87743" y="1997613"/>
            <a:chExt cx="5635625" cy="62166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743" y="2143264"/>
              <a:ext cx="5584580" cy="5060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38544" y="1997613"/>
              <a:ext cx="5584825" cy="621665"/>
            </a:xfrm>
            <a:custGeom>
              <a:avLst/>
              <a:gdLst/>
              <a:ahLst/>
              <a:cxnLst/>
              <a:rect l="l" t="t" r="r" b="b"/>
              <a:pathLst>
                <a:path w="5584825" h="621664">
                  <a:moveTo>
                    <a:pt x="5584580" y="0"/>
                  </a:moveTo>
                  <a:lnTo>
                    <a:pt x="0" y="0"/>
                  </a:lnTo>
                  <a:lnTo>
                    <a:pt x="0" y="621089"/>
                  </a:lnTo>
                  <a:lnTo>
                    <a:pt x="5584580" y="621089"/>
                  </a:lnTo>
                  <a:lnTo>
                    <a:pt x="55845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87743" y="2187546"/>
              <a:ext cx="5584825" cy="380365"/>
            </a:xfrm>
            <a:custGeom>
              <a:avLst/>
              <a:gdLst/>
              <a:ahLst/>
              <a:cxnLst/>
              <a:rect l="l" t="t" r="r" b="b"/>
              <a:pathLst>
                <a:path w="5584825" h="380364">
                  <a:moveTo>
                    <a:pt x="5584580" y="0"/>
                  </a:moveTo>
                  <a:lnTo>
                    <a:pt x="0" y="0"/>
                  </a:lnTo>
                  <a:lnTo>
                    <a:pt x="0" y="329555"/>
                  </a:lnTo>
                  <a:lnTo>
                    <a:pt x="4008" y="349280"/>
                  </a:lnTo>
                  <a:lnTo>
                    <a:pt x="14922" y="365433"/>
                  </a:lnTo>
                  <a:lnTo>
                    <a:pt x="31075" y="376347"/>
                  </a:lnTo>
                  <a:lnTo>
                    <a:pt x="50800" y="380355"/>
                  </a:lnTo>
                  <a:lnTo>
                    <a:pt x="5533779" y="380355"/>
                  </a:lnTo>
                  <a:lnTo>
                    <a:pt x="5553504" y="376347"/>
                  </a:lnTo>
                  <a:lnTo>
                    <a:pt x="5569657" y="365433"/>
                  </a:lnTo>
                  <a:lnTo>
                    <a:pt x="5580571" y="349280"/>
                  </a:lnTo>
                  <a:lnTo>
                    <a:pt x="5584580" y="329555"/>
                  </a:lnTo>
                  <a:lnTo>
                    <a:pt x="5584580" y="0"/>
                  </a:lnTo>
                  <a:close/>
                </a:path>
              </a:pathLst>
            </a:custGeom>
            <a:solidFill>
              <a:srgbClr val="E5EFE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125844" y="1151735"/>
            <a:ext cx="5597525" cy="137795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100" spc="-10">
                <a:latin typeface="Tahoma"/>
                <a:cs typeface="Tahoma"/>
              </a:rPr>
              <a:t>For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single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example: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334"/>
              </a:spcBef>
            </a:pPr>
            <a:r>
              <a:rPr dirty="0" sz="1100" spc="-30">
                <a:latin typeface="Tahoma"/>
                <a:cs typeface="Tahoma"/>
              </a:rPr>
              <a:t>If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actual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label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y</a:t>
            </a:r>
            <a:r>
              <a:rPr dirty="0" sz="1100" spc="6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8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1,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then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L</a:t>
            </a:r>
            <a:r>
              <a:rPr dirty="0" sz="1100" spc="-4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85">
                <a:latin typeface="Tahoma"/>
                <a:cs typeface="Tahoma"/>
              </a:rPr>
              <a:t> </a:t>
            </a:r>
            <a:r>
              <a:rPr dirty="0" sz="1100" spc="320" i="1">
                <a:latin typeface="Arial Narrow"/>
                <a:cs typeface="Arial Narrow"/>
              </a:rPr>
              <a:t>−</a:t>
            </a:r>
            <a:r>
              <a:rPr dirty="0" sz="1100" spc="-70" i="1">
                <a:latin typeface="Arial Narrow"/>
                <a:cs typeface="Arial Narrow"/>
              </a:rPr>
              <a:t> </a:t>
            </a:r>
            <a:r>
              <a:rPr dirty="0" sz="1100" spc="-10">
                <a:latin typeface="Tahoma"/>
                <a:cs typeface="Tahoma"/>
              </a:rPr>
              <a:t>log(</a:t>
            </a:r>
            <a:r>
              <a:rPr dirty="0" sz="1100" spc="-10" i="1">
                <a:latin typeface="Arial"/>
                <a:cs typeface="Arial"/>
              </a:rPr>
              <a:t>p</a:t>
            </a:r>
            <a:r>
              <a:rPr dirty="0" sz="1100" spc="-10">
                <a:latin typeface="Tahoma"/>
                <a:cs typeface="Tahoma"/>
              </a:rPr>
              <a:t>).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330"/>
              </a:spcBef>
            </a:pPr>
            <a:r>
              <a:rPr dirty="0" sz="1100" spc="-30">
                <a:latin typeface="Tahoma"/>
                <a:cs typeface="Tahoma"/>
              </a:rPr>
              <a:t>If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actual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label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y</a:t>
            </a:r>
            <a:r>
              <a:rPr dirty="0" sz="1100" spc="7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7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0,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then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L</a:t>
            </a:r>
            <a:r>
              <a:rPr dirty="0" sz="1100" spc="-3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80">
                <a:latin typeface="Tahoma"/>
                <a:cs typeface="Tahoma"/>
              </a:rPr>
              <a:t> </a:t>
            </a:r>
            <a:r>
              <a:rPr dirty="0" sz="1100" spc="320" i="1">
                <a:latin typeface="Arial Narrow"/>
                <a:cs typeface="Arial Narrow"/>
              </a:rPr>
              <a:t>−</a:t>
            </a:r>
            <a:r>
              <a:rPr dirty="0" sz="1100" spc="-70" i="1">
                <a:latin typeface="Arial Narrow"/>
                <a:cs typeface="Arial Narrow"/>
              </a:rPr>
              <a:t> </a:t>
            </a:r>
            <a:r>
              <a:rPr dirty="0" sz="1100" spc="-40">
                <a:latin typeface="Tahoma"/>
                <a:cs typeface="Tahoma"/>
              </a:rPr>
              <a:t>log(1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spc="320" i="1">
                <a:latin typeface="Arial Narrow"/>
                <a:cs typeface="Arial Narrow"/>
              </a:rPr>
              <a:t>−</a:t>
            </a:r>
            <a:r>
              <a:rPr dirty="0" sz="1100" spc="-35" i="1">
                <a:latin typeface="Arial Narrow"/>
                <a:cs typeface="Arial Narrow"/>
              </a:rPr>
              <a:t> </a:t>
            </a:r>
            <a:r>
              <a:rPr dirty="0" sz="1100" spc="-25" i="1">
                <a:latin typeface="Arial"/>
                <a:cs typeface="Arial"/>
              </a:rPr>
              <a:t>p</a:t>
            </a:r>
            <a:r>
              <a:rPr dirty="0" sz="1100" spc="-25">
                <a:latin typeface="Tahoma"/>
                <a:cs typeface="Tahoma"/>
              </a:rPr>
              <a:t>).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1100">
              <a:latin typeface="Tahoma"/>
              <a:cs typeface="Tahoma"/>
            </a:endParaRPr>
          </a:p>
          <a:p>
            <a:pPr marL="12700" marR="2947670">
              <a:lnSpc>
                <a:spcPct val="102600"/>
              </a:lnSpc>
            </a:pPr>
            <a:r>
              <a:rPr dirty="0" sz="1100" spc="-30">
                <a:latin typeface="Tahoma"/>
                <a:cs typeface="Tahoma"/>
              </a:rPr>
              <a:t>If </a:t>
            </a:r>
            <a:r>
              <a:rPr dirty="0" sz="1100" i="1">
                <a:latin typeface="Arial"/>
                <a:cs typeface="Arial"/>
              </a:rPr>
              <a:t>p</a:t>
            </a:r>
            <a:r>
              <a:rPr dirty="0" sz="1100" spc="1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0</a:t>
            </a:r>
            <a:r>
              <a:rPr dirty="0" sz="1100" spc="-10" i="1">
                <a:latin typeface="Calibri"/>
                <a:cs typeface="Calibri"/>
              </a:rPr>
              <a:t>.</a:t>
            </a:r>
            <a:r>
              <a:rPr dirty="0" sz="1100" spc="-10">
                <a:latin typeface="Tahoma"/>
                <a:cs typeface="Tahoma"/>
              </a:rPr>
              <a:t>9, </a:t>
            </a:r>
            <a:r>
              <a:rPr dirty="0" sz="1100" spc="-40">
                <a:latin typeface="Tahoma"/>
                <a:cs typeface="Tahoma"/>
              </a:rPr>
              <a:t>loss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65">
                <a:latin typeface="Tahoma"/>
                <a:cs typeface="Tahoma"/>
              </a:rPr>
              <a:t> </a:t>
            </a:r>
            <a:r>
              <a:rPr dirty="0" sz="1100" spc="320" i="1">
                <a:latin typeface="Arial Narrow"/>
                <a:cs typeface="Arial Narrow"/>
              </a:rPr>
              <a:t>−</a:t>
            </a:r>
            <a:r>
              <a:rPr dirty="0" sz="1100" spc="-70" i="1">
                <a:latin typeface="Arial Narrow"/>
                <a:cs typeface="Arial Narrow"/>
              </a:rPr>
              <a:t> </a:t>
            </a:r>
            <a:r>
              <a:rPr dirty="0" sz="1100" spc="-25">
                <a:latin typeface="Tahoma"/>
                <a:cs typeface="Tahoma"/>
              </a:rPr>
              <a:t>log(0</a:t>
            </a:r>
            <a:r>
              <a:rPr dirty="0" sz="1100" spc="-25" i="1">
                <a:latin typeface="Calibri"/>
                <a:cs typeface="Calibri"/>
              </a:rPr>
              <a:t>.</a:t>
            </a:r>
            <a:r>
              <a:rPr dirty="0" sz="1100" spc="-25">
                <a:latin typeface="Tahoma"/>
                <a:cs typeface="Tahoma"/>
              </a:rPr>
              <a:t>9)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spc="245" i="1">
                <a:latin typeface="Arial Narrow"/>
                <a:cs typeface="Arial Narrow"/>
              </a:rPr>
              <a:t>≈</a:t>
            </a:r>
            <a:r>
              <a:rPr dirty="0" sz="1100" spc="25" i="1">
                <a:latin typeface="Arial Narrow"/>
                <a:cs typeface="Arial Narrow"/>
              </a:rPr>
              <a:t> </a:t>
            </a:r>
            <a:r>
              <a:rPr dirty="0" sz="1100" spc="-30">
                <a:latin typeface="Tahoma"/>
                <a:cs typeface="Tahoma"/>
              </a:rPr>
              <a:t>0</a:t>
            </a:r>
            <a:r>
              <a:rPr dirty="0" sz="1100" spc="-30" i="1">
                <a:latin typeface="Calibri"/>
                <a:cs typeface="Calibri"/>
              </a:rPr>
              <a:t>.</a:t>
            </a:r>
            <a:r>
              <a:rPr dirty="0" sz="1100" spc="-30">
                <a:latin typeface="Tahoma"/>
                <a:cs typeface="Tahoma"/>
              </a:rPr>
              <a:t>105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(small). </a:t>
            </a:r>
            <a:r>
              <a:rPr dirty="0" sz="1100" spc="-30">
                <a:latin typeface="Tahoma"/>
                <a:cs typeface="Tahoma"/>
              </a:rPr>
              <a:t>If </a:t>
            </a:r>
            <a:r>
              <a:rPr dirty="0" sz="1100" i="1">
                <a:latin typeface="Arial"/>
                <a:cs typeface="Arial"/>
              </a:rPr>
              <a:t>p</a:t>
            </a:r>
            <a:r>
              <a:rPr dirty="0" sz="1100" spc="1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0</a:t>
            </a:r>
            <a:r>
              <a:rPr dirty="0" sz="1100" spc="-10" i="1">
                <a:latin typeface="Calibri"/>
                <a:cs typeface="Calibri"/>
              </a:rPr>
              <a:t>.</a:t>
            </a:r>
            <a:r>
              <a:rPr dirty="0" sz="1100" spc="-10">
                <a:latin typeface="Tahoma"/>
                <a:cs typeface="Tahoma"/>
              </a:rPr>
              <a:t>1, </a:t>
            </a:r>
            <a:r>
              <a:rPr dirty="0" sz="1100" spc="-40">
                <a:latin typeface="Tahoma"/>
                <a:cs typeface="Tahoma"/>
              </a:rPr>
              <a:t>loss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65">
                <a:latin typeface="Tahoma"/>
                <a:cs typeface="Tahoma"/>
              </a:rPr>
              <a:t> </a:t>
            </a:r>
            <a:r>
              <a:rPr dirty="0" sz="1100" spc="320" i="1">
                <a:latin typeface="Arial Narrow"/>
                <a:cs typeface="Arial Narrow"/>
              </a:rPr>
              <a:t>−</a:t>
            </a:r>
            <a:r>
              <a:rPr dirty="0" sz="1100" spc="-70" i="1">
                <a:latin typeface="Arial Narrow"/>
                <a:cs typeface="Arial Narrow"/>
              </a:rPr>
              <a:t> </a:t>
            </a:r>
            <a:r>
              <a:rPr dirty="0" sz="1100" spc="-25">
                <a:latin typeface="Tahoma"/>
                <a:cs typeface="Tahoma"/>
              </a:rPr>
              <a:t>log(0</a:t>
            </a:r>
            <a:r>
              <a:rPr dirty="0" sz="1100" spc="-25" i="1">
                <a:latin typeface="Calibri"/>
                <a:cs typeface="Calibri"/>
              </a:rPr>
              <a:t>.</a:t>
            </a:r>
            <a:r>
              <a:rPr dirty="0" sz="1100" spc="-25">
                <a:latin typeface="Tahoma"/>
                <a:cs typeface="Tahoma"/>
              </a:rPr>
              <a:t>1)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spc="245" i="1">
                <a:latin typeface="Arial Narrow"/>
                <a:cs typeface="Arial Narrow"/>
              </a:rPr>
              <a:t>≈</a:t>
            </a:r>
            <a:r>
              <a:rPr dirty="0" sz="1100" spc="25" i="1">
                <a:latin typeface="Arial Narrow"/>
                <a:cs typeface="Arial Narrow"/>
              </a:rPr>
              <a:t> </a:t>
            </a:r>
            <a:r>
              <a:rPr dirty="0" sz="1100" spc="-30">
                <a:latin typeface="Tahoma"/>
                <a:cs typeface="Tahoma"/>
              </a:rPr>
              <a:t>2</a:t>
            </a:r>
            <a:r>
              <a:rPr dirty="0" sz="1100" spc="-30" i="1">
                <a:latin typeface="Calibri"/>
                <a:cs typeface="Calibri"/>
              </a:rPr>
              <a:t>.</a:t>
            </a:r>
            <a:r>
              <a:rPr dirty="0" sz="1100" spc="-30">
                <a:latin typeface="Tahoma"/>
                <a:cs typeface="Tahoma"/>
              </a:rPr>
              <a:t>303</a:t>
            </a:r>
            <a:r>
              <a:rPr dirty="0" sz="1100" spc="-10">
                <a:latin typeface="Tahoma"/>
                <a:cs typeface="Tahoma"/>
              </a:rPr>
              <a:t> (large).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5844" y="2672778"/>
            <a:ext cx="447167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model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penalized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when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it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assigns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low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probability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correct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class.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675"/>
              </a:lnSpc>
            </a:pPr>
            <a:fld id="{81D60167-4931-47E6-BA6A-407CBD079E47}" type="slidenum">
              <a:rPr dirty="0" spc="-10"/>
              <a:t>13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Logistic</a:t>
            </a:r>
            <a:r>
              <a:rPr dirty="0" spc="-45"/>
              <a:t> </a:t>
            </a:r>
            <a:r>
              <a:rPr dirty="0" spc="-65"/>
              <a:t>regression</a:t>
            </a:r>
            <a:r>
              <a:rPr dirty="0" spc="-45"/>
              <a:t> </a:t>
            </a:r>
            <a:r>
              <a:rPr dirty="0" spc="-30"/>
              <a:t>also</a:t>
            </a:r>
            <a:r>
              <a:rPr dirty="0" spc="-40"/>
              <a:t> </a:t>
            </a:r>
            <a:r>
              <a:rPr dirty="0" spc="-60"/>
              <a:t>learns</a:t>
            </a:r>
            <a:r>
              <a:rPr dirty="0" spc="-45"/>
              <a:t> </a:t>
            </a:r>
            <a:r>
              <a:rPr dirty="0" spc="-30"/>
              <a:t>by</a:t>
            </a:r>
            <a:r>
              <a:rPr dirty="0" spc="-40"/>
              <a:t> </a:t>
            </a:r>
            <a:r>
              <a:rPr dirty="0" spc="-35"/>
              <a:t>gradient</a:t>
            </a:r>
            <a:r>
              <a:rPr dirty="0" spc="-45"/>
              <a:t> descent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454379"/>
            <a:ext cx="25546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latin typeface="Tahoma"/>
                <a:cs typeface="Tahoma"/>
              </a:rPr>
              <a:t>For</a:t>
            </a:r>
            <a:r>
              <a:rPr dirty="0" sz="1100" spc="-45">
                <a:latin typeface="Tahoma"/>
                <a:cs typeface="Tahoma"/>
              </a:rPr>
              <a:t> one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example,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with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binary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cross-entropy: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98243" y="798523"/>
            <a:ext cx="7378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i="1">
                <a:latin typeface="Arial"/>
                <a:cs typeface="Arial"/>
              </a:rPr>
              <a:t>z</a:t>
            </a:r>
            <a:r>
              <a:rPr dirty="0" sz="1100" spc="3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6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wx</a:t>
            </a:r>
            <a:r>
              <a:rPr dirty="0" sz="1100" spc="1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spc="-25" i="1">
                <a:latin typeface="Arial"/>
                <a:cs typeface="Arial"/>
              </a:rPr>
              <a:t>b</a:t>
            </a:r>
            <a:r>
              <a:rPr dirty="0" sz="1100" spc="-25" i="1">
                <a:latin typeface="Calibri"/>
                <a:cs typeface="Calibri"/>
              </a:rPr>
              <a:t>,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10318" y="798523"/>
            <a:ext cx="5518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i="1">
                <a:latin typeface="Arial"/>
                <a:cs typeface="Arial"/>
              </a:rPr>
              <a:t>p</a:t>
            </a:r>
            <a:r>
              <a:rPr dirty="0" sz="1100" spc="4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 i="1">
                <a:latin typeface="Calibri"/>
                <a:cs typeface="Calibri"/>
              </a:rPr>
              <a:t>σ</a:t>
            </a:r>
            <a:r>
              <a:rPr dirty="0" sz="1100" spc="-10">
                <a:latin typeface="Tahoma"/>
                <a:cs typeface="Tahoma"/>
              </a:rPr>
              <a:t>(</a:t>
            </a:r>
            <a:r>
              <a:rPr dirty="0" sz="1100" spc="-10" i="1">
                <a:latin typeface="Arial"/>
                <a:cs typeface="Arial"/>
              </a:rPr>
              <a:t>z</a:t>
            </a:r>
            <a:r>
              <a:rPr dirty="0" sz="1100" spc="-210" i="1">
                <a:latin typeface="Arial"/>
                <a:cs typeface="Arial"/>
              </a:rPr>
              <a:t> </a:t>
            </a:r>
            <a:r>
              <a:rPr dirty="0" sz="1100" spc="-5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5844" y="1052841"/>
            <a:ext cx="15132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gradients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simplify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to: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919376" y="1398981"/>
            <a:ext cx="191135" cy="0"/>
          </a:xfrm>
          <a:custGeom>
            <a:avLst/>
            <a:gdLst/>
            <a:ahLst/>
            <a:cxnLst/>
            <a:rect l="l" t="t" r="r" b="b"/>
            <a:pathLst>
              <a:path w="191135" h="0">
                <a:moveTo>
                  <a:pt x="0" y="0"/>
                </a:moveTo>
                <a:lnTo>
                  <a:pt x="19093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906676" y="1166149"/>
            <a:ext cx="201930" cy="40322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29845">
              <a:lnSpc>
                <a:spcPct val="100000"/>
              </a:lnSpc>
              <a:spcBef>
                <a:spcPts val="265"/>
              </a:spcBef>
            </a:pPr>
            <a:r>
              <a:rPr dirty="0" sz="1100" spc="-25" i="1">
                <a:latin typeface="Calibri"/>
                <a:cs typeface="Calibri"/>
              </a:rPr>
              <a:t>∂</a:t>
            </a:r>
            <a:r>
              <a:rPr dirty="0" sz="1100" spc="-25" i="1">
                <a:latin typeface="Arial"/>
                <a:cs typeface="Arial"/>
              </a:rPr>
              <a:t>L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1100" spc="-25" i="1">
                <a:latin typeface="Calibri"/>
                <a:cs typeface="Calibri"/>
              </a:rPr>
              <a:t>∂</a:t>
            </a:r>
            <a:r>
              <a:rPr dirty="0" sz="1100" spc="-25" i="1">
                <a:latin typeface="Arial"/>
                <a:cs typeface="Arial"/>
              </a:rPr>
              <a:t>w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51278" y="1282381"/>
            <a:ext cx="7200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(</a:t>
            </a:r>
            <a:r>
              <a:rPr dirty="0" sz="1100" spc="-10" i="1">
                <a:latin typeface="Arial"/>
                <a:cs typeface="Arial"/>
              </a:rPr>
              <a:t>p</a:t>
            </a:r>
            <a:r>
              <a:rPr dirty="0" sz="1100" spc="-25" i="1">
                <a:latin typeface="Arial"/>
                <a:cs typeface="Arial"/>
              </a:rPr>
              <a:t> </a:t>
            </a:r>
            <a:r>
              <a:rPr dirty="0" sz="1100" spc="320" i="1">
                <a:latin typeface="Arial Narrow"/>
                <a:cs typeface="Arial Narrow"/>
              </a:rPr>
              <a:t>−</a:t>
            </a:r>
            <a:r>
              <a:rPr dirty="0" sz="1100" spc="-5" i="1">
                <a:latin typeface="Arial Narrow"/>
                <a:cs typeface="Arial Narrow"/>
              </a:rPr>
              <a:t> </a:t>
            </a:r>
            <a:r>
              <a:rPr dirty="0" sz="1100" spc="-55" i="1">
                <a:latin typeface="Arial"/>
                <a:cs typeface="Arial"/>
              </a:rPr>
              <a:t>y</a:t>
            </a:r>
            <a:r>
              <a:rPr dirty="0" sz="1100" spc="-190" i="1">
                <a:latin typeface="Arial"/>
                <a:cs typeface="Arial"/>
              </a:rPr>
              <a:t> </a:t>
            </a:r>
            <a:r>
              <a:rPr dirty="0" sz="1100" spc="-25">
                <a:latin typeface="Tahoma"/>
                <a:cs typeface="Tahoma"/>
              </a:rPr>
              <a:t>)</a:t>
            </a:r>
            <a:r>
              <a:rPr dirty="0" sz="1100" spc="-25" i="1">
                <a:latin typeface="Arial"/>
                <a:cs typeface="Arial"/>
              </a:rPr>
              <a:t>x</a:t>
            </a:r>
            <a:r>
              <a:rPr dirty="0" sz="1100" spc="-25" i="1">
                <a:latin typeface="Calibri"/>
                <a:cs typeface="Calibri"/>
              </a:rPr>
              <a:t>,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173628" y="1398981"/>
            <a:ext cx="157480" cy="0"/>
          </a:xfrm>
          <a:custGeom>
            <a:avLst/>
            <a:gdLst/>
            <a:ahLst/>
            <a:cxnLst/>
            <a:rect l="l" t="t" r="r" b="b"/>
            <a:pathLst>
              <a:path w="157479" h="0">
                <a:moveTo>
                  <a:pt x="0" y="0"/>
                </a:moveTo>
                <a:lnTo>
                  <a:pt x="15707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160928" y="1166149"/>
            <a:ext cx="182245" cy="40322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1100" spc="-25" i="1">
                <a:latin typeface="Calibri"/>
                <a:cs typeface="Calibri"/>
              </a:rPr>
              <a:t>∂</a:t>
            </a:r>
            <a:r>
              <a:rPr dirty="0" sz="1100" spc="-25" i="1">
                <a:latin typeface="Arial"/>
                <a:cs typeface="Arial"/>
              </a:rPr>
              <a:t>L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1100" spc="-25" i="1">
                <a:latin typeface="Calibri"/>
                <a:cs typeface="Calibri"/>
              </a:rPr>
              <a:t>∂</a:t>
            </a:r>
            <a:r>
              <a:rPr dirty="0" sz="1100" spc="-25" i="1">
                <a:latin typeface="Arial"/>
                <a:cs typeface="Arial"/>
              </a:rPr>
              <a:t>b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71659" y="1282381"/>
            <a:ext cx="4819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60" i="1">
                <a:latin typeface="Arial"/>
                <a:cs typeface="Arial"/>
              </a:rPr>
              <a:t>p</a:t>
            </a:r>
            <a:r>
              <a:rPr dirty="0" sz="1100" spc="-10" i="1">
                <a:latin typeface="Arial"/>
                <a:cs typeface="Arial"/>
              </a:rPr>
              <a:t> </a:t>
            </a:r>
            <a:r>
              <a:rPr dirty="0" sz="1100" spc="320" i="1">
                <a:latin typeface="Arial Narrow"/>
                <a:cs typeface="Arial Narrow"/>
              </a:rPr>
              <a:t>−</a:t>
            </a:r>
            <a:r>
              <a:rPr dirty="0" sz="1100" spc="5" i="1">
                <a:latin typeface="Arial Narrow"/>
                <a:cs typeface="Arial Narrow"/>
              </a:rPr>
              <a:t> </a:t>
            </a:r>
            <a:r>
              <a:rPr dirty="0" sz="1100" spc="-50" i="1">
                <a:latin typeface="Arial"/>
                <a:cs typeface="Arial"/>
              </a:rPr>
              <a:t>y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5844" y="1568524"/>
            <a:ext cx="11537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So</a:t>
            </a:r>
            <a:r>
              <a:rPr dirty="0" sz="1100" spc="-7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updates</a:t>
            </a:r>
            <a:r>
              <a:rPr dirty="0" sz="1100" spc="-55">
                <a:latin typeface="Tahoma"/>
                <a:cs typeface="Tahoma"/>
              </a:rPr>
              <a:t> are: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73541" y="1652534"/>
            <a:ext cx="1200785" cy="5340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4455" marR="5080" indent="-72390">
              <a:lnSpc>
                <a:spcPct val="151700"/>
              </a:lnSpc>
              <a:spcBef>
                <a:spcPts val="100"/>
              </a:spcBef>
            </a:pPr>
            <a:r>
              <a:rPr dirty="0" sz="1100" i="1">
                <a:latin typeface="Arial"/>
                <a:cs typeface="Arial"/>
              </a:rPr>
              <a:t>w</a:t>
            </a:r>
            <a:r>
              <a:rPr dirty="0" sz="1100" spc="75" i="1">
                <a:latin typeface="Arial"/>
                <a:cs typeface="Arial"/>
              </a:rPr>
              <a:t> </a:t>
            </a:r>
            <a:r>
              <a:rPr dirty="0" sz="1100" i="1">
                <a:latin typeface="Arial Narrow"/>
                <a:cs typeface="Arial Narrow"/>
              </a:rPr>
              <a:t>←</a:t>
            </a:r>
            <a:r>
              <a:rPr dirty="0" sz="1100" spc="25" i="1">
                <a:latin typeface="Arial Narrow"/>
                <a:cs typeface="Arial Narrow"/>
              </a:rPr>
              <a:t> </a:t>
            </a:r>
            <a:r>
              <a:rPr dirty="0" sz="1100" i="1">
                <a:latin typeface="Arial"/>
                <a:cs typeface="Arial"/>
              </a:rPr>
              <a:t>w</a:t>
            </a:r>
            <a:r>
              <a:rPr dirty="0" sz="1100" spc="30" i="1">
                <a:latin typeface="Arial"/>
                <a:cs typeface="Arial"/>
              </a:rPr>
              <a:t> </a:t>
            </a:r>
            <a:r>
              <a:rPr dirty="0" sz="1100" spc="320" i="1">
                <a:latin typeface="Arial Narrow"/>
                <a:cs typeface="Arial Narrow"/>
              </a:rPr>
              <a:t>−</a:t>
            </a:r>
            <a:r>
              <a:rPr dirty="0" sz="1100" spc="-30" i="1">
                <a:latin typeface="Arial Narrow"/>
                <a:cs typeface="Arial Narrow"/>
              </a:rPr>
              <a:t> </a:t>
            </a:r>
            <a:r>
              <a:rPr dirty="0" sz="1100" spc="-10" i="1">
                <a:latin typeface="Calibri"/>
                <a:cs typeface="Calibri"/>
              </a:rPr>
              <a:t>η</a:t>
            </a:r>
            <a:r>
              <a:rPr dirty="0" sz="1100" spc="-10">
                <a:latin typeface="Tahoma"/>
                <a:cs typeface="Tahoma"/>
              </a:rPr>
              <a:t>(</a:t>
            </a:r>
            <a:r>
              <a:rPr dirty="0" sz="1100" spc="-10" i="1">
                <a:latin typeface="Arial"/>
                <a:cs typeface="Arial"/>
              </a:rPr>
              <a:t>p</a:t>
            </a:r>
            <a:r>
              <a:rPr dirty="0" sz="1100" spc="-45" i="1">
                <a:latin typeface="Arial"/>
                <a:cs typeface="Arial"/>
              </a:rPr>
              <a:t> </a:t>
            </a:r>
            <a:r>
              <a:rPr dirty="0" sz="1100" spc="320" i="1">
                <a:latin typeface="Arial Narrow"/>
                <a:cs typeface="Arial Narrow"/>
              </a:rPr>
              <a:t>−</a:t>
            </a:r>
            <a:r>
              <a:rPr dirty="0" sz="1100" spc="-30" i="1">
                <a:latin typeface="Arial Narrow"/>
                <a:cs typeface="Arial Narrow"/>
              </a:rPr>
              <a:t> </a:t>
            </a:r>
            <a:r>
              <a:rPr dirty="0" sz="1100" spc="-55" i="1">
                <a:latin typeface="Arial"/>
                <a:cs typeface="Arial"/>
              </a:rPr>
              <a:t>y</a:t>
            </a:r>
            <a:r>
              <a:rPr dirty="0" sz="1100" spc="-190" i="1">
                <a:latin typeface="Arial"/>
                <a:cs typeface="Arial"/>
              </a:rPr>
              <a:t> </a:t>
            </a:r>
            <a:r>
              <a:rPr dirty="0" sz="1100" spc="-25">
                <a:latin typeface="Tahoma"/>
                <a:cs typeface="Tahoma"/>
              </a:rPr>
              <a:t>)</a:t>
            </a:r>
            <a:r>
              <a:rPr dirty="0" sz="1100" spc="-25" i="1">
                <a:latin typeface="Arial"/>
                <a:cs typeface="Arial"/>
              </a:rPr>
              <a:t>x 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sz="1100" spc="-5" i="1">
                <a:latin typeface="Arial"/>
                <a:cs typeface="Arial"/>
              </a:rPr>
              <a:t> </a:t>
            </a:r>
            <a:r>
              <a:rPr dirty="0" sz="1100" i="1">
                <a:latin typeface="Arial Narrow"/>
                <a:cs typeface="Arial Narrow"/>
              </a:rPr>
              <a:t>←</a:t>
            </a:r>
            <a:r>
              <a:rPr dirty="0" sz="1100" spc="35" i="1">
                <a:latin typeface="Arial Narrow"/>
                <a:cs typeface="Arial Narrow"/>
              </a:rPr>
              <a:t> </a:t>
            </a:r>
            <a:r>
              <a:rPr dirty="0" sz="1100" spc="-60" i="1">
                <a:latin typeface="Arial"/>
                <a:cs typeface="Arial"/>
              </a:rPr>
              <a:t>b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spc="320" i="1">
                <a:latin typeface="Arial Narrow"/>
                <a:cs typeface="Arial Narrow"/>
              </a:rPr>
              <a:t>−</a:t>
            </a:r>
            <a:r>
              <a:rPr dirty="0" sz="1100" spc="-20" i="1">
                <a:latin typeface="Arial Narrow"/>
                <a:cs typeface="Arial Narrow"/>
              </a:rPr>
              <a:t> </a:t>
            </a:r>
            <a:r>
              <a:rPr dirty="0" sz="1100" spc="-10" i="1">
                <a:latin typeface="Calibri"/>
                <a:cs typeface="Calibri"/>
              </a:rPr>
              <a:t>η</a:t>
            </a:r>
            <a:r>
              <a:rPr dirty="0" sz="1100" spc="-10">
                <a:latin typeface="Tahoma"/>
                <a:cs typeface="Tahoma"/>
              </a:rPr>
              <a:t>(</a:t>
            </a:r>
            <a:r>
              <a:rPr dirty="0" sz="1100" spc="-10" i="1">
                <a:latin typeface="Arial"/>
                <a:cs typeface="Arial"/>
              </a:rPr>
              <a:t>p</a:t>
            </a:r>
            <a:r>
              <a:rPr dirty="0" sz="1100" spc="-40" i="1">
                <a:latin typeface="Arial"/>
                <a:cs typeface="Arial"/>
              </a:rPr>
              <a:t> </a:t>
            </a:r>
            <a:r>
              <a:rPr dirty="0" sz="1100" spc="320" i="1">
                <a:latin typeface="Arial Narrow"/>
                <a:cs typeface="Arial Narrow"/>
              </a:rPr>
              <a:t>−</a:t>
            </a:r>
            <a:r>
              <a:rPr dirty="0" sz="1100" spc="-20" i="1">
                <a:latin typeface="Arial Narrow"/>
                <a:cs typeface="Arial Narrow"/>
              </a:rPr>
              <a:t> </a:t>
            </a:r>
            <a:r>
              <a:rPr dirty="0" sz="1100" spc="-55" i="1">
                <a:latin typeface="Arial"/>
                <a:cs typeface="Arial"/>
              </a:rPr>
              <a:t>y</a:t>
            </a:r>
            <a:r>
              <a:rPr dirty="0" sz="1100" spc="-190" i="1">
                <a:latin typeface="Arial"/>
                <a:cs typeface="Arial"/>
              </a:rPr>
              <a:t> </a:t>
            </a:r>
            <a:r>
              <a:rPr dirty="0" sz="1100" spc="-5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7743" y="2364295"/>
            <a:ext cx="5584825" cy="198755"/>
          </a:xfrm>
          <a:custGeom>
            <a:avLst/>
            <a:gdLst/>
            <a:ahLst/>
            <a:cxnLst/>
            <a:rect l="l" t="t" r="r" b="b"/>
            <a:pathLst>
              <a:path w="5584825" h="198755">
                <a:moveTo>
                  <a:pt x="553377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5584580" y="198367"/>
                </a:lnTo>
                <a:lnTo>
                  <a:pt x="5584580" y="50800"/>
                </a:lnTo>
                <a:lnTo>
                  <a:pt x="5580571" y="31075"/>
                </a:lnTo>
                <a:lnTo>
                  <a:pt x="5569657" y="14922"/>
                </a:lnTo>
                <a:lnTo>
                  <a:pt x="5553504" y="4008"/>
                </a:lnTo>
                <a:lnTo>
                  <a:pt x="5533779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38544" y="2392755"/>
            <a:ext cx="950594" cy="1536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45"/>
              </a:lnSpc>
            </a:pPr>
            <a:r>
              <a:rPr dirty="0" sz="1200">
                <a:solidFill>
                  <a:srgbClr val="FFFFFF"/>
                </a:solidFill>
                <a:latin typeface="Tahoma"/>
                <a:cs typeface="Tahoma"/>
              </a:rPr>
              <a:t>Key</a:t>
            </a:r>
            <a:r>
              <a:rPr dirty="0" sz="1200" spc="-65">
                <a:solidFill>
                  <a:srgbClr val="FFFFFF"/>
                </a:solidFill>
                <a:latin typeface="Tahoma"/>
                <a:cs typeface="Tahoma"/>
              </a:rPr>
              <a:t> connection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7743" y="2421228"/>
            <a:ext cx="5635625" cy="589280"/>
            <a:chOff x="87743" y="2421228"/>
            <a:chExt cx="5635625" cy="589280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2550020"/>
              <a:ext cx="5584580" cy="5060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38544" y="2421228"/>
              <a:ext cx="5584825" cy="589280"/>
            </a:xfrm>
            <a:custGeom>
              <a:avLst/>
              <a:gdLst/>
              <a:ahLst/>
              <a:cxnLst/>
              <a:rect l="l" t="t" r="r" b="b"/>
              <a:pathLst>
                <a:path w="5584825" h="589280">
                  <a:moveTo>
                    <a:pt x="5584580" y="0"/>
                  </a:moveTo>
                  <a:lnTo>
                    <a:pt x="0" y="0"/>
                  </a:lnTo>
                  <a:lnTo>
                    <a:pt x="0" y="588824"/>
                  </a:lnTo>
                  <a:lnTo>
                    <a:pt x="5584580" y="588824"/>
                  </a:lnTo>
                  <a:lnTo>
                    <a:pt x="55845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87743" y="2594290"/>
              <a:ext cx="5584825" cy="365125"/>
            </a:xfrm>
            <a:custGeom>
              <a:avLst/>
              <a:gdLst/>
              <a:ahLst/>
              <a:cxnLst/>
              <a:rect l="l" t="t" r="r" b="b"/>
              <a:pathLst>
                <a:path w="5584825" h="365125">
                  <a:moveTo>
                    <a:pt x="5584580" y="0"/>
                  </a:moveTo>
                  <a:lnTo>
                    <a:pt x="0" y="0"/>
                  </a:lnTo>
                  <a:lnTo>
                    <a:pt x="0" y="314161"/>
                  </a:lnTo>
                  <a:lnTo>
                    <a:pt x="4008" y="333886"/>
                  </a:lnTo>
                  <a:lnTo>
                    <a:pt x="14922" y="350039"/>
                  </a:lnTo>
                  <a:lnTo>
                    <a:pt x="31075" y="360953"/>
                  </a:lnTo>
                  <a:lnTo>
                    <a:pt x="50800" y="364962"/>
                  </a:lnTo>
                  <a:lnTo>
                    <a:pt x="5533779" y="364962"/>
                  </a:lnTo>
                  <a:lnTo>
                    <a:pt x="5553504" y="360953"/>
                  </a:lnTo>
                  <a:lnTo>
                    <a:pt x="5569657" y="350039"/>
                  </a:lnTo>
                  <a:lnTo>
                    <a:pt x="5580571" y="333886"/>
                  </a:lnTo>
                  <a:lnTo>
                    <a:pt x="5584580" y="314161"/>
                  </a:lnTo>
                  <a:lnTo>
                    <a:pt x="5584580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138544" y="2564573"/>
            <a:ext cx="55848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learning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recipe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familiar:</a:t>
            </a:r>
            <a:r>
              <a:rPr dirty="0" sz="1100" spc="8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predict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i="1">
                <a:latin typeface="Arial Narrow"/>
                <a:cs typeface="Arial Narrow"/>
              </a:rPr>
              <a:t>→</a:t>
            </a:r>
            <a:r>
              <a:rPr dirty="0" sz="1100" spc="75" i="1">
                <a:latin typeface="Arial Narrow"/>
                <a:cs typeface="Arial Narrow"/>
              </a:rPr>
              <a:t> </a:t>
            </a:r>
            <a:r>
              <a:rPr dirty="0" sz="1100" spc="-25">
                <a:latin typeface="Tahoma"/>
                <a:cs typeface="Tahoma"/>
              </a:rPr>
              <a:t>calculate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loss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i="1">
                <a:latin typeface="Arial Narrow"/>
                <a:cs typeface="Arial Narrow"/>
              </a:rPr>
              <a:t>→</a:t>
            </a:r>
            <a:r>
              <a:rPr dirty="0" sz="1100" spc="75" i="1">
                <a:latin typeface="Arial Narrow"/>
                <a:cs typeface="Arial Narrow"/>
              </a:rPr>
              <a:t> </a:t>
            </a:r>
            <a:r>
              <a:rPr dirty="0" sz="1100" spc="-25">
                <a:latin typeface="Tahoma"/>
                <a:cs typeface="Tahoma"/>
              </a:rPr>
              <a:t>calculate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gradients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i="1">
                <a:latin typeface="Arial Narrow"/>
                <a:cs typeface="Arial Narrow"/>
              </a:rPr>
              <a:t>→</a:t>
            </a:r>
            <a:r>
              <a:rPr dirty="0" sz="1100" spc="70" i="1">
                <a:latin typeface="Arial Narrow"/>
                <a:cs typeface="Arial Narrow"/>
              </a:rPr>
              <a:t> </a:t>
            </a:r>
            <a:r>
              <a:rPr dirty="0" sz="1100" spc="-10">
                <a:latin typeface="Tahoma"/>
                <a:cs typeface="Tahoma"/>
              </a:rPr>
              <a:t>update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5844" y="2770034"/>
            <a:ext cx="696595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spc="-50">
                <a:latin typeface="Tahoma"/>
                <a:cs typeface="Tahoma"/>
              </a:rPr>
              <a:t>parameters.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675"/>
              </a:lnSpc>
            </a:pPr>
            <a:fld id="{81D60167-4931-47E6-BA6A-407CBD079E47}" type="slidenum">
              <a:rPr dirty="0" spc="-10"/>
              <a:t>14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0"/>
              <a:t>Linear</a:t>
            </a:r>
            <a:r>
              <a:rPr dirty="0" spc="-70"/>
              <a:t> </a:t>
            </a:r>
            <a:r>
              <a:rPr dirty="0"/>
              <a:t>vs.</a:t>
            </a:r>
            <a:r>
              <a:rPr dirty="0" spc="55"/>
              <a:t> </a:t>
            </a:r>
            <a:r>
              <a:rPr dirty="0" spc="-20"/>
              <a:t>logistic</a:t>
            </a:r>
            <a:r>
              <a:rPr dirty="0" spc="-70"/>
              <a:t> </a:t>
            </a:r>
            <a:r>
              <a:rPr dirty="0" spc="-55"/>
              <a:t>regression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67157" y="779538"/>
          <a:ext cx="5302250" cy="9055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000"/>
                <a:gridCol w="1845945"/>
                <a:gridCol w="2236470"/>
              </a:tblGrid>
              <a:tr h="2254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544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000" spc="-25" b="1">
                          <a:latin typeface="Gill Sans MT"/>
                          <a:cs typeface="Gill Sans MT"/>
                        </a:rPr>
                        <a:t>Linear</a:t>
                      </a:r>
                      <a:r>
                        <a:rPr dirty="0" sz="1000" spc="-10" b="1">
                          <a:latin typeface="Gill Sans MT"/>
                          <a:cs typeface="Gill Sans MT"/>
                        </a:rPr>
                        <a:t> regression</a:t>
                      </a:r>
                      <a:endParaRPr sz="1000">
                        <a:latin typeface="Gill Sans MT"/>
                        <a:cs typeface="Gill Sans MT"/>
                      </a:endParaRPr>
                    </a:p>
                  </a:txBody>
                  <a:tcPr marL="0" marR="0" marB="0" marT="24765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513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000" spc="-10" b="1">
                          <a:latin typeface="Gill Sans MT"/>
                          <a:cs typeface="Gill Sans MT"/>
                        </a:rPr>
                        <a:t>Logistic</a:t>
                      </a:r>
                      <a:r>
                        <a:rPr dirty="0" sz="1000" spc="20" b="1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000" spc="-10" b="1">
                          <a:latin typeface="Gill Sans MT"/>
                          <a:cs typeface="Gill Sans MT"/>
                        </a:rPr>
                        <a:t>regression</a:t>
                      </a:r>
                      <a:endParaRPr sz="1000">
                        <a:latin typeface="Gill Sans MT"/>
                        <a:cs typeface="Gill Sans MT"/>
                      </a:endParaRPr>
                    </a:p>
                  </a:txBody>
                  <a:tcPr marL="0" marR="0" marB="0" marT="24765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304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000" spc="-20">
                          <a:latin typeface="Tahoma"/>
                          <a:cs typeface="Tahoma"/>
                        </a:rPr>
                        <a:t>Task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2286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454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000">
                          <a:latin typeface="Tahoma"/>
                          <a:cs typeface="Tahoma"/>
                        </a:rPr>
                        <a:t>Predict</a:t>
                      </a:r>
                      <a:r>
                        <a:rPr dirty="0" sz="1000" spc="-3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a</a:t>
                      </a:r>
                      <a:r>
                        <a:rPr dirty="0" sz="1000" spc="-4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number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2286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0513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000">
                          <a:latin typeface="Tahoma"/>
                          <a:cs typeface="Tahoma"/>
                        </a:rPr>
                        <a:t>Predict</a:t>
                      </a:r>
                      <a:r>
                        <a:rPr dirty="0" sz="1000" spc="-4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a</a:t>
                      </a:r>
                      <a:r>
                        <a:rPr dirty="0" sz="1000" spc="-4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30">
                          <a:latin typeface="Tahoma"/>
                          <a:cs typeface="Tahoma"/>
                        </a:rPr>
                        <a:t>class</a:t>
                      </a:r>
                      <a:r>
                        <a:rPr dirty="0" sz="1000" spc="-4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probability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2286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dirty="0" sz="1000">
                          <a:latin typeface="Tahoma"/>
                          <a:cs typeface="Tahoma"/>
                        </a:rPr>
                        <a:t>Model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output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44805">
                        <a:lnSpc>
                          <a:spcPts val="1050"/>
                        </a:lnSpc>
                      </a:pPr>
                      <a:r>
                        <a:rPr dirty="0" sz="1000" i="1">
                          <a:latin typeface="Arial"/>
                          <a:cs typeface="Arial"/>
                        </a:rPr>
                        <a:t>wx</a:t>
                      </a:r>
                      <a:r>
                        <a:rPr dirty="0" sz="1000" spc="-1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+</a:t>
                      </a:r>
                      <a:r>
                        <a:rPr dirty="0" sz="1000" spc="-9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50" i="1">
                          <a:latin typeface="Arial"/>
                          <a:cs typeface="Arial"/>
                        </a:rPr>
                        <a:t>b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05765">
                        <a:lnSpc>
                          <a:spcPts val="1050"/>
                        </a:lnSpc>
                      </a:pPr>
                      <a:r>
                        <a:rPr dirty="0" sz="1000" i="1">
                          <a:latin typeface="Calibri"/>
                          <a:cs typeface="Calibri"/>
                        </a:rPr>
                        <a:t>σ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1000" i="1">
                          <a:latin typeface="Arial"/>
                          <a:cs typeface="Arial"/>
                        </a:rPr>
                        <a:t>wx</a:t>
                      </a:r>
                      <a:r>
                        <a:rPr dirty="0" sz="1000" spc="4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+</a:t>
                      </a:r>
                      <a:r>
                        <a:rPr dirty="0" sz="1000" spc="-8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25" i="1">
                          <a:latin typeface="Arial"/>
                          <a:cs typeface="Arial"/>
                        </a:rPr>
                        <a:t>b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)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</a:tr>
              <a:tr h="151765"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dirty="0" sz="1000" spc="-10">
                          <a:latin typeface="Tahoma"/>
                          <a:cs typeface="Tahoma"/>
                        </a:rPr>
                        <a:t>Typical</a:t>
                      </a:r>
                      <a:r>
                        <a:rPr dirty="0" sz="1000" spc="-3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loss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45440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MSE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05765">
                        <a:lnSpc>
                          <a:spcPts val="1050"/>
                        </a:lnSpc>
                      </a:pPr>
                      <a:r>
                        <a:rPr dirty="0" sz="1000" spc="-10">
                          <a:latin typeface="Tahoma"/>
                          <a:cs typeface="Tahoma"/>
                        </a:rPr>
                        <a:t>Binary </a:t>
                      </a:r>
                      <a:r>
                        <a:rPr dirty="0" sz="1000" spc="-45">
                          <a:latin typeface="Tahoma"/>
                          <a:cs typeface="Tahoma"/>
                        </a:rPr>
                        <a:t>cross-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entropy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</a:tr>
              <a:tr h="183515"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dirty="0" sz="1000" spc="-10">
                          <a:latin typeface="Tahoma"/>
                          <a:cs typeface="Tahoma"/>
                        </a:rPr>
                        <a:t>Learning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4805">
                        <a:lnSpc>
                          <a:spcPts val="1050"/>
                        </a:lnSpc>
                      </a:pPr>
                      <a:r>
                        <a:rPr dirty="0" sz="1000" spc="-10">
                          <a:latin typeface="Tahoma"/>
                          <a:cs typeface="Tahoma"/>
                        </a:rPr>
                        <a:t>Optimize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parameters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5130">
                        <a:lnSpc>
                          <a:spcPts val="1050"/>
                        </a:lnSpc>
                      </a:pPr>
                      <a:r>
                        <a:rPr dirty="0" sz="1000" spc="-10">
                          <a:latin typeface="Tahoma"/>
                          <a:cs typeface="Tahoma"/>
                        </a:rPr>
                        <a:t>Optimize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parameters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87743" y="1906701"/>
            <a:ext cx="5584825" cy="198755"/>
          </a:xfrm>
          <a:custGeom>
            <a:avLst/>
            <a:gdLst/>
            <a:ahLst/>
            <a:cxnLst/>
            <a:rect l="l" t="t" r="r" b="b"/>
            <a:pathLst>
              <a:path w="5584825" h="198755">
                <a:moveTo>
                  <a:pt x="553377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5584580" y="198367"/>
                </a:lnTo>
                <a:lnTo>
                  <a:pt x="5584580" y="50800"/>
                </a:lnTo>
                <a:lnTo>
                  <a:pt x="5580571" y="31075"/>
                </a:lnTo>
                <a:lnTo>
                  <a:pt x="5569657" y="14922"/>
                </a:lnTo>
                <a:lnTo>
                  <a:pt x="5553504" y="4008"/>
                </a:lnTo>
                <a:lnTo>
                  <a:pt x="5533779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38544" y="1935149"/>
            <a:ext cx="1605280" cy="1536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45"/>
              </a:lnSpc>
            </a:pPr>
            <a:r>
              <a:rPr dirty="0" sz="1200" spc="-40">
                <a:solidFill>
                  <a:srgbClr val="FFFFFF"/>
                </a:solidFill>
                <a:latin typeface="Tahoma"/>
                <a:cs typeface="Tahoma"/>
              </a:rPr>
              <a:t>Check </a:t>
            </a:r>
            <a:r>
              <a:rPr dirty="0" sz="1200" spc="-65">
                <a:solidFill>
                  <a:srgbClr val="FFFFFF"/>
                </a:solidFill>
                <a:latin typeface="Tahoma"/>
                <a:cs typeface="Tahoma"/>
              </a:rPr>
              <a:t>your</a:t>
            </a:r>
            <a:r>
              <a:rPr dirty="0" sz="1200" spc="-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70">
                <a:solidFill>
                  <a:srgbClr val="FFFFFF"/>
                </a:solidFill>
                <a:latin typeface="Tahoma"/>
                <a:cs typeface="Tahoma"/>
              </a:rPr>
              <a:t>understanding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7743" y="1963624"/>
            <a:ext cx="5635625" cy="549275"/>
            <a:chOff x="87743" y="1963624"/>
            <a:chExt cx="5635625" cy="54927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2092413"/>
              <a:ext cx="5584580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38544" y="1963624"/>
              <a:ext cx="5584825" cy="549275"/>
            </a:xfrm>
            <a:custGeom>
              <a:avLst/>
              <a:gdLst/>
              <a:ahLst/>
              <a:cxnLst/>
              <a:rect l="l" t="t" r="r" b="b"/>
              <a:pathLst>
                <a:path w="5584825" h="549275">
                  <a:moveTo>
                    <a:pt x="5584580" y="0"/>
                  </a:moveTo>
                  <a:lnTo>
                    <a:pt x="0" y="0"/>
                  </a:lnTo>
                  <a:lnTo>
                    <a:pt x="0" y="549109"/>
                  </a:lnTo>
                  <a:lnTo>
                    <a:pt x="5584580" y="549109"/>
                  </a:lnTo>
                  <a:lnTo>
                    <a:pt x="55845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87743" y="2136686"/>
              <a:ext cx="5584825" cy="325755"/>
            </a:xfrm>
            <a:custGeom>
              <a:avLst/>
              <a:gdLst/>
              <a:ahLst/>
              <a:cxnLst/>
              <a:rect l="l" t="t" r="r" b="b"/>
              <a:pathLst>
                <a:path w="5584825" h="325755">
                  <a:moveTo>
                    <a:pt x="5584580" y="0"/>
                  </a:moveTo>
                  <a:lnTo>
                    <a:pt x="0" y="0"/>
                  </a:lnTo>
                  <a:lnTo>
                    <a:pt x="0" y="274446"/>
                  </a:lnTo>
                  <a:lnTo>
                    <a:pt x="4008" y="294170"/>
                  </a:lnTo>
                  <a:lnTo>
                    <a:pt x="14922" y="310323"/>
                  </a:lnTo>
                  <a:lnTo>
                    <a:pt x="31075" y="321238"/>
                  </a:lnTo>
                  <a:lnTo>
                    <a:pt x="50800" y="325246"/>
                  </a:lnTo>
                  <a:lnTo>
                    <a:pt x="5533779" y="325246"/>
                  </a:lnTo>
                  <a:lnTo>
                    <a:pt x="5553504" y="321238"/>
                  </a:lnTo>
                  <a:lnTo>
                    <a:pt x="5569657" y="310323"/>
                  </a:lnTo>
                  <a:lnTo>
                    <a:pt x="5580571" y="294170"/>
                  </a:lnTo>
                  <a:lnTo>
                    <a:pt x="5584580" y="274446"/>
                  </a:lnTo>
                  <a:lnTo>
                    <a:pt x="5584580" y="0"/>
                  </a:lnTo>
                  <a:close/>
                </a:path>
              </a:pathLst>
            </a:custGeom>
            <a:solidFill>
              <a:srgbClr val="F8E5E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87743" y="2110643"/>
            <a:ext cx="5635625" cy="5918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 marR="93345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Tahoma"/>
                <a:cs typeface="Tahoma"/>
              </a:rPr>
              <a:t>Both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models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learn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weights.</a:t>
            </a:r>
            <a:r>
              <a:rPr dirty="0" sz="1000" spc="8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What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55">
                <a:latin typeface="Tahoma"/>
                <a:cs typeface="Tahoma"/>
              </a:rPr>
              <a:t>changes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65">
                <a:latin typeface="Tahoma"/>
                <a:cs typeface="Tahoma"/>
              </a:rPr>
              <a:t>between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them:</a:t>
            </a:r>
            <a:r>
              <a:rPr dirty="0" sz="1000" spc="7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the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input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data,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the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output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interpretation,</a:t>
            </a:r>
            <a:r>
              <a:rPr dirty="0" sz="1000" spc="-25">
                <a:latin typeface="Tahoma"/>
                <a:cs typeface="Tahoma"/>
              </a:rPr>
              <a:t> the loss,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or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all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three?</a:t>
            </a:r>
            <a:endParaRPr sz="100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865"/>
              </a:spcBef>
            </a:pPr>
            <a:r>
              <a:rPr dirty="0" sz="1000">
                <a:latin typeface="Tahoma"/>
                <a:cs typeface="Tahoma"/>
              </a:rPr>
              <a:t>For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standard</a:t>
            </a:r>
            <a:r>
              <a:rPr dirty="0" sz="1000" spc="-30">
                <a:latin typeface="Tahoma"/>
                <a:cs typeface="Tahoma"/>
              </a:rPr>
              <a:t> binary </a:t>
            </a:r>
            <a:r>
              <a:rPr dirty="0" sz="1000" spc="-10">
                <a:latin typeface="Tahoma"/>
                <a:cs typeface="Tahoma"/>
              </a:rPr>
              <a:t>logistic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regression,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the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linear </a:t>
            </a:r>
            <a:r>
              <a:rPr dirty="0" sz="1000" spc="-50">
                <a:latin typeface="Tahoma"/>
                <a:cs typeface="Tahoma"/>
              </a:rPr>
              <a:t>score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is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transformed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into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probability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using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sigmoid.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675"/>
              </a:lnSpc>
            </a:pPr>
            <a:fld id="{81D60167-4931-47E6-BA6A-407CBD079E47}" type="slidenum">
              <a:rPr dirty="0" spc="-10"/>
              <a:t>15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So,</a:t>
            </a:r>
            <a:r>
              <a:rPr dirty="0" spc="-60"/>
              <a:t> </a:t>
            </a:r>
            <a:r>
              <a:rPr dirty="0" spc="-20"/>
              <a:t>what</a:t>
            </a:r>
            <a:r>
              <a:rPr dirty="0" spc="-60"/>
              <a:t> </a:t>
            </a:r>
            <a:r>
              <a:rPr dirty="0"/>
              <a:t>is</a:t>
            </a:r>
            <a:r>
              <a:rPr dirty="0" spc="-60"/>
              <a:t> </a:t>
            </a:r>
            <a:r>
              <a:rPr dirty="0"/>
              <a:t>a</a:t>
            </a:r>
            <a:r>
              <a:rPr dirty="0" spc="-60"/>
              <a:t> </a:t>
            </a:r>
            <a:r>
              <a:rPr dirty="0" spc="-35"/>
              <a:t>neural</a:t>
            </a:r>
            <a:r>
              <a:rPr dirty="0" spc="-60"/>
              <a:t> </a:t>
            </a:r>
            <a:r>
              <a:rPr dirty="0" spc="-50"/>
              <a:t>network?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405585"/>
            <a:ext cx="24657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55">
                <a:latin typeface="Tahoma"/>
                <a:cs typeface="Tahoma"/>
              </a:rPr>
              <a:t>A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single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computational </a:t>
            </a:r>
            <a:r>
              <a:rPr dirty="0" sz="1100">
                <a:latin typeface="Tahoma"/>
                <a:cs typeface="Tahoma"/>
              </a:rPr>
              <a:t>unit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can</a:t>
            </a:r>
            <a:r>
              <a:rPr dirty="0" sz="1100" spc="-25">
                <a:latin typeface="Tahoma"/>
                <a:cs typeface="Tahoma"/>
              </a:rPr>
              <a:t> calculate: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05432" y="694345"/>
            <a:ext cx="13442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i="1">
                <a:latin typeface="Arial"/>
                <a:cs typeface="Arial"/>
              </a:rPr>
              <a:t>z</a:t>
            </a:r>
            <a:r>
              <a:rPr dirty="0" sz="1100" spc="2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6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w</a:t>
            </a:r>
            <a:r>
              <a:rPr dirty="0" baseline="-10416" sz="1200">
                <a:latin typeface="Tahoma"/>
                <a:cs typeface="Tahoma"/>
              </a:rPr>
              <a:t>1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baseline="-10416" sz="1200">
                <a:latin typeface="Tahoma"/>
                <a:cs typeface="Tahoma"/>
              </a:rPr>
              <a:t>1</a:t>
            </a:r>
            <a:r>
              <a:rPr dirty="0" baseline="-10416" sz="1200" spc="22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w</a:t>
            </a:r>
            <a:r>
              <a:rPr dirty="0" baseline="-10416" sz="1200">
                <a:latin typeface="Tahoma"/>
                <a:cs typeface="Tahoma"/>
              </a:rPr>
              <a:t>2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baseline="-10416" sz="1200">
                <a:latin typeface="Tahoma"/>
                <a:cs typeface="Tahoma"/>
              </a:rPr>
              <a:t>2</a:t>
            </a:r>
            <a:r>
              <a:rPr dirty="0" baseline="-10416" sz="1200" spc="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spc="-25" i="1">
                <a:latin typeface="Arial"/>
                <a:cs typeface="Arial"/>
              </a:rPr>
              <a:t>b</a:t>
            </a:r>
            <a:r>
              <a:rPr dirty="0" sz="1100" spc="-25" i="1">
                <a:latin typeface="Calibri"/>
                <a:cs typeface="Calibri"/>
              </a:rPr>
              <a:t>,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98526" y="694345"/>
            <a:ext cx="5308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0" i="1">
                <a:latin typeface="Arial"/>
                <a:cs typeface="Arial"/>
              </a:rPr>
              <a:t>a</a:t>
            </a:r>
            <a:r>
              <a:rPr dirty="0" sz="1100" spc="3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f</a:t>
            </a:r>
            <a:r>
              <a:rPr dirty="0" sz="1100" spc="-45" i="1">
                <a:latin typeface="Arial"/>
                <a:cs typeface="Arial"/>
              </a:rPr>
              <a:t> </a:t>
            </a:r>
            <a:r>
              <a:rPr dirty="0" sz="1100" spc="-50">
                <a:latin typeface="Tahoma"/>
                <a:cs typeface="Tahoma"/>
              </a:rPr>
              <a:t>(</a:t>
            </a:r>
            <a:r>
              <a:rPr dirty="0" sz="1100" spc="-50" i="1">
                <a:latin typeface="Arial"/>
                <a:cs typeface="Arial"/>
              </a:rPr>
              <a:t>z</a:t>
            </a:r>
            <a:r>
              <a:rPr dirty="0" sz="1100" spc="-200" i="1">
                <a:latin typeface="Arial"/>
                <a:cs typeface="Arial"/>
              </a:rPr>
              <a:t> </a:t>
            </a:r>
            <a:r>
              <a:rPr dirty="0" sz="1100" spc="-5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267231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466024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664817"/>
            <a:ext cx="65265" cy="652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863597"/>
            <a:ext cx="65265" cy="65265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87743" y="2080691"/>
            <a:ext cx="5584825" cy="187960"/>
          </a:xfrm>
          <a:custGeom>
            <a:avLst/>
            <a:gdLst/>
            <a:ahLst/>
            <a:cxnLst/>
            <a:rect l="l" t="t" r="r" b="b"/>
            <a:pathLst>
              <a:path w="5584825" h="187960">
                <a:moveTo>
                  <a:pt x="553377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5584580" y="187823"/>
                </a:lnTo>
                <a:lnTo>
                  <a:pt x="5584580" y="50800"/>
                </a:lnTo>
                <a:lnTo>
                  <a:pt x="5580571" y="31075"/>
                </a:lnTo>
                <a:lnTo>
                  <a:pt x="5569657" y="14922"/>
                </a:lnTo>
                <a:lnTo>
                  <a:pt x="5553504" y="4008"/>
                </a:lnTo>
                <a:lnTo>
                  <a:pt x="5533779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38544" y="2109151"/>
            <a:ext cx="361315" cy="1536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45"/>
              </a:lnSpc>
            </a:pPr>
            <a:r>
              <a:rPr dirty="0" sz="1200" spc="-35">
                <a:solidFill>
                  <a:srgbClr val="FFFFFF"/>
                </a:solidFill>
                <a:latin typeface="Tahoma"/>
                <a:cs typeface="Tahoma"/>
              </a:rPr>
              <a:t>Think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7743" y="2137627"/>
            <a:ext cx="5635625" cy="578485"/>
            <a:chOff x="87743" y="2137627"/>
            <a:chExt cx="5635625" cy="578485"/>
          </a:xfrm>
        </p:grpSpPr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743" y="2255862"/>
              <a:ext cx="5584580" cy="5060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38544" y="2137627"/>
              <a:ext cx="5584825" cy="578485"/>
            </a:xfrm>
            <a:custGeom>
              <a:avLst/>
              <a:gdLst/>
              <a:ahLst/>
              <a:cxnLst/>
              <a:rect l="l" t="t" r="r" b="b"/>
              <a:pathLst>
                <a:path w="5584825" h="578485">
                  <a:moveTo>
                    <a:pt x="5584580" y="0"/>
                  </a:moveTo>
                  <a:lnTo>
                    <a:pt x="0" y="0"/>
                  </a:lnTo>
                  <a:lnTo>
                    <a:pt x="0" y="578281"/>
                  </a:lnTo>
                  <a:lnTo>
                    <a:pt x="5584580" y="578281"/>
                  </a:lnTo>
                  <a:lnTo>
                    <a:pt x="55845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87743" y="2300145"/>
              <a:ext cx="5584825" cy="365125"/>
            </a:xfrm>
            <a:custGeom>
              <a:avLst/>
              <a:gdLst/>
              <a:ahLst/>
              <a:cxnLst/>
              <a:rect l="l" t="t" r="r" b="b"/>
              <a:pathLst>
                <a:path w="5584825" h="365125">
                  <a:moveTo>
                    <a:pt x="5584580" y="0"/>
                  </a:moveTo>
                  <a:lnTo>
                    <a:pt x="0" y="0"/>
                  </a:lnTo>
                  <a:lnTo>
                    <a:pt x="0" y="314161"/>
                  </a:lnTo>
                  <a:lnTo>
                    <a:pt x="4008" y="333886"/>
                  </a:lnTo>
                  <a:lnTo>
                    <a:pt x="14922" y="350039"/>
                  </a:lnTo>
                  <a:lnTo>
                    <a:pt x="31075" y="360953"/>
                  </a:lnTo>
                  <a:lnTo>
                    <a:pt x="50800" y="364962"/>
                  </a:lnTo>
                  <a:lnTo>
                    <a:pt x="5533779" y="364962"/>
                  </a:lnTo>
                  <a:lnTo>
                    <a:pt x="5553504" y="360953"/>
                  </a:lnTo>
                  <a:lnTo>
                    <a:pt x="5569657" y="350039"/>
                  </a:lnTo>
                  <a:lnTo>
                    <a:pt x="5580571" y="333886"/>
                  </a:lnTo>
                  <a:lnTo>
                    <a:pt x="5584580" y="314161"/>
                  </a:lnTo>
                  <a:lnTo>
                    <a:pt x="5584580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125844" y="948713"/>
            <a:ext cx="5597525" cy="2148205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1100" spc="55">
                <a:latin typeface="Tahoma"/>
                <a:cs typeface="Tahoma"/>
              </a:rPr>
              <a:t>A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neural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network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connects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many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such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units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layers.</a:t>
            </a:r>
            <a:endParaRPr sz="1100">
              <a:latin typeface="Tahoma"/>
              <a:cs typeface="Tahoma"/>
            </a:endParaRPr>
          </a:p>
          <a:p>
            <a:pPr marL="289560" marR="2966085">
              <a:lnSpc>
                <a:spcPct val="118600"/>
              </a:lnSpc>
              <a:spcBef>
                <a:spcPts val="15"/>
              </a:spcBef>
            </a:pPr>
            <a:r>
              <a:rPr dirty="0" sz="1100" spc="-40">
                <a:latin typeface="Tahoma"/>
                <a:cs typeface="Tahoma"/>
              </a:rPr>
              <a:t>Inputs:</a:t>
            </a:r>
            <a:r>
              <a:rPr dirty="0" sz="1100" spc="3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features </a:t>
            </a:r>
            <a:r>
              <a:rPr dirty="0" sz="1100" spc="-20">
                <a:latin typeface="Tahoma"/>
                <a:cs typeface="Tahoma"/>
              </a:rPr>
              <a:t>from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example. </a:t>
            </a:r>
            <a:r>
              <a:rPr dirty="0" sz="1100" spc="-30">
                <a:latin typeface="Tahoma"/>
                <a:cs typeface="Tahoma"/>
              </a:rPr>
              <a:t>Weights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biases:</a:t>
            </a:r>
            <a:r>
              <a:rPr dirty="0" sz="1100" spc="6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learned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parameters.</a:t>
            </a:r>
            <a:endParaRPr sz="1100">
              <a:latin typeface="Tahoma"/>
              <a:cs typeface="Tahoma"/>
            </a:endParaRPr>
          </a:p>
          <a:p>
            <a:pPr marL="289560" marR="2571750">
              <a:lnSpc>
                <a:spcPct val="118600"/>
              </a:lnSpc>
            </a:pPr>
            <a:r>
              <a:rPr dirty="0" sz="1100">
                <a:latin typeface="Tahoma"/>
                <a:cs typeface="Tahoma"/>
              </a:rPr>
              <a:t>Activation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functions:</a:t>
            </a:r>
            <a:r>
              <a:rPr dirty="0" sz="1100" spc="5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introduce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nonlinearity. </a:t>
            </a:r>
            <a:r>
              <a:rPr dirty="0" sz="1100">
                <a:latin typeface="Tahoma"/>
                <a:cs typeface="Tahoma"/>
              </a:rPr>
              <a:t>Output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layer:</a:t>
            </a:r>
            <a:r>
              <a:rPr dirty="0" sz="1100" spc="6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produces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required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prediction.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75"/>
              </a:spcBef>
            </a:pPr>
            <a:endParaRPr sz="1100">
              <a:latin typeface="Tahoma"/>
              <a:cs typeface="Tahoma"/>
            </a:endParaRPr>
          </a:p>
          <a:p>
            <a:pPr marL="12700" marR="450215">
              <a:lnSpc>
                <a:spcPct val="102699"/>
              </a:lnSpc>
            </a:pPr>
            <a:r>
              <a:rPr dirty="0" sz="1100" spc="-30">
                <a:latin typeface="Tahoma"/>
                <a:cs typeface="Tahoma"/>
              </a:rPr>
              <a:t>If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spc="-90">
                <a:latin typeface="Tahoma"/>
                <a:cs typeface="Tahoma"/>
              </a:rPr>
              <a:t>we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stack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several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layers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but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65">
                <a:latin typeface="Tahoma"/>
                <a:cs typeface="Tahoma"/>
              </a:rPr>
              <a:t>use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no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nonlinear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activation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70">
                <a:latin typeface="Tahoma"/>
                <a:cs typeface="Tahoma"/>
              </a:rPr>
              <a:t>between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them, </a:t>
            </a:r>
            <a:r>
              <a:rPr dirty="0" sz="1100" spc="-20">
                <a:latin typeface="Tahoma"/>
                <a:cs typeface="Tahoma"/>
              </a:rPr>
              <a:t>can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network </a:t>
            </a:r>
            <a:r>
              <a:rPr dirty="0" sz="1100" spc="-50">
                <a:latin typeface="Tahoma"/>
                <a:cs typeface="Tahoma"/>
              </a:rPr>
              <a:t>represent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function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more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complex </a:t>
            </a:r>
            <a:r>
              <a:rPr dirty="0" sz="1100" spc="-10">
                <a:latin typeface="Tahoma"/>
                <a:cs typeface="Tahoma"/>
              </a:rPr>
              <a:t>than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one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linear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transformation?</a:t>
            </a:r>
            <a:endParaRPr sz="1100">
              <a:latin typeface="Tahoma"/>
              <a:cs typeface="Tahoma"/>
            </a:endParaRPr>
          </a:p>
          <a:p>
            <a:pPr marL="12700" marR="614045">
              <a:lnSpc>
                <a:spcPct val="102600"/>
              </a:lnSpc>
              <a:spcBef>
                <a:spcPts val="935"/>
              </a:spcBef>
            </a:pPr>
            <a:r>
              <a:rPr dirty="0" sz="1100" b="1">
                <a:latin typeface="Gill Sans MT"/>
                <a:cs typeface="Gill Sans MT"/>
              </a:rPr>
              <a:t>Key</a:t>
            </a:r>
            <a:r>
              <a:rPr dirty="0" sz="1100" spc="40" b="1">
                <a:latin typeface="Gill Sans MT"/>
                <a:cs typeface="Gill Sans MT"/>
              </a:rPr>
              <a:t> </a:t>
            </a:r>
            <a:r>
              <a:rPr dirty="0" sz="1100" b="1">
                <a:latin typeface="Gill Sans MT"/>
                <a:cs typeface="Gill Sans MT"/>
              </a:rPr>
              <a:t>idea:</a:t>
            </a:r>
            <a:r>
              <a:rPr dirty="0" sz="1100" spc="110" b="1">
                <a:latin typeface="Gill Sans MT"/>
                <a:cs typeface="Gill Sans MT"/>
              </a:rPr>
              <a:t> </a:t>
            </a:r>
            <a:r>
              <a:rPr dirty="0" sz="1100" spc="-20">
                <a:latin typeface="Tahoma"/>
                <a:cs typeface="Tahoma"/>
              </a:rPr>
              <a:t>multiple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linear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transformations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alone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collapse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one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linear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transformation. Nonlinear</a:t>
            </a:r>
            <a:r>
              <a:rPr dirty="0" sz="1100" spc="-25">
                <a:latin typeface="Tahoma"/>
                <a:cs typeface="Tahoma"/>
              </a:rPr>
              <a:t> activations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make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network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more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expressive.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438089" y="3125241"/>
            <a:ext cx="25400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 spc="-10">
                <a:latin typeface="Tahoma"/>
                <a:cs typeface="Tahoma"/>
              </a:rPr>
              <a:t>16</a:t>
            </a:r>
            <a:r>
              <a:rPr dirty="0" sz="600" spc="-85">
                <a:latin typeface="Tahoma"/>
                <a:cs typeface="Tahoma"/>
              </a:rPr>
              <a:t> </a:t>
            </a:r>
            <a:r>
              <a:rPr dirty="0" sz="600" spc="90">
                <a:latin typeface="Tahoma"/>
                <a:cs typeface="Tahoma"/>
              </a:rPr>
              <a:t>/</a:t>
            </a:r>
            <a:r>
              <a:rPr dirty="0" sz="600" spc="-85">
                <a:latin typeface="Tahoma"/>
                <a:cs typeface="Tahoma"/>
              </a:rPr>
              <a:t> </a:t>
            </a:r>
            <a:r>
              <a:rPr dirty="0" sz="600" spc="-35">
                <a:latin typeface="Tahoma"/>
                <a:cs typeface="Tahoma"/>
              </a:rPr>
              <a:t>18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Bridge</a:t>
            </a:r>
            <a:r>
              <a:rPr dirty="0" spc="-50"/>
              <a:t> </a:t>
            </a:r>
            <a:r>
              <a:rPr dirty="0"/>
              <a:t>to</a:t>
            </a:r>
            <a:r>
              <a:rPr dirty="0" spc="-45"/>
              <a:t> </a:t>
            </a:r>
            <a:r>
              <a:rPr dirty="0" spc="-30"/>
              <a:t>Deep</a:t>
            </a:r>
            <a:r>
              <a:rPr dirty="0" spc="-45"/>
              <a:t> </a:t>
            </a:r>
            <a:r>
              <a:rPr dirty="0" spc="-30"/>
              <a:t>Q-</a:t>
            </a:r>
            <a:r>
              <a:rPr dirty="0" spc="-35"/>
              <a:t>Learning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1149019"/>
            <a:ext cx="5584825" cy="215265"/>
          </a:xfrm>
          <a:custGeom>
            <a:avLst/>
            <a:gdLst/>
            <a:ahLst/>
            <a:cxnLst/>
            <a:rect l="l" t="t" r="r" b="b"/>
            <a:pathLst>
              <a:path w="5584825" h="215265">
                <a:moveTo>
                  <a:pt x="553377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5238"/>
                </a:lnTo>
                <a:lnTo>
                  <a:pt x="5584580" y="215238"/>
                </a:lnTo>
                <a:lnTo>
                  <a:pt x="5584580" y="50800"/>
                </a:lnTo>
                <a:lnTo>
                  <a:pt x="5580571" y="31075"/>
                </a:lnTo>
                <a:lnTo>
                  <a:pt x="5569657" y="14922"/>
                </a:lnTo>
                <a:lnTo>
                  <a:pt x="5553504" y="4008"/>
                </a:lnTo>
                <a:lnTo>
                  <a:pt x="5533779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38544" y="1185899"/>
            <a:ext cx="1520190" cy="1536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45"/>
              </a:lnSpc>
            </a:pPr>
            <a:r>
              <a:rPr dirty="0" sz="1200" spc="-60">
                <a:solidFill>
                  <a:srgbClr val="FFFFFF"/>
                </a:solidFill>
                <a:latin typeface="Tahoma"/>
                <a:cs typeface="Tahoma"/>
              </a:rPr>
              <a:t>Deep</a:t>
            </a:r>
            <a:r>
              <a:rPr dirty="0" sz="1200" spc="-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35">
                <a:solidFill>
                  <a:srgbClr val="FFFFFF"/>
                </a:solidFill>
                <a:latin typeface="Tahoma"/>
                <a:cs typeface="Tahoma"/>
              </a:rPr>
              <a:t>Q-</a:t>
            </a:r>
            <a:r>
              <a:rPr dirty="0" sz="1200" spc="-55">
                <a:solidFill>
                  <a:srgbClr val="FFFFFF"/>
                </a:solidFill>
                <a:latin typeface="Tahoma"/>
                <a:cs typeface="Tahoma"/>
              </a:rPr>
              <a:t>Network</a:t>
            </a:r>
            <a:r>
              <a:rPr dirty="0" sz="1200" spc="-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ahoma"/>
                <a:cs typeface="Tahoma"/>
              </a:rPr>
              <a:t>(DQN)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7743" y="1205946"/>
            <a:ext cx="5635625" cy="753110"/>
            <a:chOff x="87743" y="1205946"/>
            <a:chExt cx="5635625" cy="75311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1351597"/>
              <a:ext cx="5584580" cy="5060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38544" y="1205946"/>
              <a:ext cx="5584825" cy="753110"/>
            </a:xfrm>
            <a:custGeom>
              <a:avLst/>
              <a:gdLst/>
              <a:ahLst/>
              <a:cxnLst/>
              <a:rect l="l" t="t" r="r" b="b"/>
              <a:pathLst>
                <a:path w="5584825" h="753110">
                  <a:moveTo>
                    <a:pt x="5584580" y="0"/>
                  </a:moveTo>
                  <a:lnTo>
                    <a:pt x="0" y="0"/>
                  </a:lnTo>
                  <a:lnTo>
                    <a:pt x="0" y="752572"/>
                  </a:lnTo>
                  <a:lnTo>
                    <a:pt x="5584580" y="752572"/>
                  </a:lnTo>
                  <a:lnTo>
                    <a:pt x="55845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7743" y="1395879"/>
              <a:ext cx="5584825" cy="512445"/>
            </a:xfrm>
            <a:custGeom>
              <a:avLst/>
              <a:gdLst/>
              <a:ahLst/>
              <a:cxnLst/>
              <a:rect l="l" t="t" r="r" b="b"/>
              <a:pathLst>
                <a:path w="5584825" h="512444">
                  <a:moveTo>
                    <a:pt x="5584580" y="0"/>
                  </a:moveTo>
                  <a:lnTo>
                    <a:pt x="0" y="0"/>
                  </a:lnTo>
                  <a:lnTo>
                    <a:pt x="0" y="461038"/>
                  </a:lnTo>
                  <a:lnTo>
                    <a:pt x="4008" y="480763"/>
                  </a:lnTo>
                  <a:lnTo>
                    <a:pt x="14922" y="496916"/>
                  </a:lnTo>
                  <a:lnTo>
                    <a:pt x="31075" y="507830"/>
                  </a:lnTo>
                  <a:lnTo>
                    <a:pt x="50800" y="511838"/>
                  </a:lnTo>
                  <a:lnTo>
                    <a:pt x="5533779" y="511838"/>
                  </a:lnTo>
                  <a:lnTo>
                    <a:pt x="5553504" y="507830"/>
                  </a:lnTo>
                  <a:lnTo>
                    <a:pt x="5569657" y="496916"/>
                  </a:lnTo>
                  <a:lnTo>
                    <a:pt x="5580571" y="480763"/>
                  </a:lnTo>
                  <a:lnTo>
                    <a:pt x="5584580" y="461038"/>
                  </a:lnTo>
                  <a:lnTo>
                    <a:pt x="5584580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2056333"/>
            <a:ext cx="65265" cy="6526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2228405"/>
            <a:ext cx="65265" cy="6526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400477"/>
            <a:ext cx="65265" cy="65265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87743" y="2577502"/>
            <a:ext cx="5584825" cy="187960"/>
          </a:xfrm>
          <a:custGeom>
            <a:avLst/>
            <a:gdLst/>
            <a:ahLst/>
            <a:cxnLst/>
            <a:rect l="l" t="t" r="r" b="b"/>
            <a:pathLst>
              <a:path w="5584825" h="187960">
                <a:moveTo>
                  <a:pt x="553377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5584580" y="187823"/>
                </a:lnTo>
                <a:lnTo>
                  <a:pt x="5584580" y="50800"/>
                </a:lnTo>
                <a:lnTo>
                  <a:pt x="5580571" y="31075"/>
                </a:lnTo>
                <a:lnTo>
                  <a:pt x="5569657" y="14922"/>
                </a:lnTo>
                <a:lnTo>
                  <a:pt x="5553504" y="4008"/>
                </a:lnTo>
                <a:lnTo>
                  <a:pt x="5533779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38544" y="2605950"/>
            <a:ext cx="548640" cy="1536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45"/>
              </a:lnSpc>
            </a:pPr>
            <a:r>
              <a:rPr dirty="0" sz="1200" spc="-60">
                <a:solidFill>
                  <a:srgbClr val="FFFFFF"/>
                </a:solidFill>
                <a:latin typeface="Tahoma"/>
                <a:cs typeface="Tahoma"/>
              </a:rPr>
              <a:t>Question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7743" y="2634429"/>
            <a:ext cx="5635625" cy="551815"/>
            <a:chOff x="87743" y="2634429"/>
            <a:chExt cx="5635625" cy="551815"/>
          </a:xfrm>
        </p:grpSpPr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743" y="2752674"/>
              <a:ext cx="5584580" cy="5060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38544" y="2634429"/>
              <a:ext cx="5584825" cy="551815"/>
            </a:xfrm>
            <a:custGeom>
              <a:avLst/>
              <a:gdLst/>
              <a:ahLst/>
              <a:cxnLst/>
              <a:rect l="l" t="t" r="r" b="b"/>
              <a:pathLst>
                <a:path w="5584825" h="551814">
                  <a:moveTo>
                    <a:pt x="5584580" y="0"/>
                  </a:moveTo>
                  <a:lnTo>
                    <a:pt x="0" y="0"/>
                  </a:lnTo>
                  <a:lnTo>
                    <a:pt x="0" y="551341"/>
                  </a:lnTo>
                  <a:lnTo>
                    <a:pt x="5584580" y="551341"/>
                  </a:lnTo>
                  <a:lnTo>
                    <a:pt x="55845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87743" y="2796947"/>
              <a:ext cx="5584825" cy="338455"/>
            </a:xfrm>
            <a:custGeom>
              <a:avLst/>
              <a:gdLst/>
              <a:ahLst/>
              <a:cxnLst/>
              <a:rect l="l" t="t" r="r" b="b"/>
              <a:pathLst>
                <a:path w="5584825" h="338455">
                  <a:moveTo>
                    <a:pt x="5584580" y="0"/>
                  </a:moveTo>
                  <a:lnTo>
                    <a:pt x="0" y="0"/>
                  </a:lnTo>
                  <a:lnTo>
                    <a:pt x="0" y="287221"/>
                  </a:lnTo>
                  <a:lnTo>
                    <a:pt x="4008" y="306946"/>
                  </a:lnTo>
                  <a:lnTo>
                    <a:pt x="14922" y="323099"/>
                  </a:lnTo>
                  <a:lnTo>
                    <a:pt x="31075" y="334013"/>
                  </a:lnTo>
                  <a:lnTo>
                    <a:pt x="50800" y="338022"/>
                  </a:lnTo>
                  <a:lnTo>
                    <a:pt x="5533779" y="338022"/>
                  </a:lnTo>
                  <a:lnTo>
                    <a:pt x="5553504" y="334013"/>
                  </a:lnTo>
                  <a:lnTo>
                    <a:pt x="5569657" y="323099"/>
                  </a:lnTo>
                  <a:lnTo>
                    <a:pt x="5580571" y="306946"/>
                  </a:lnTo>
                  <a:lnTo>
                    <a:pt x="5584580" y="287221"/>
                  </a:lnTo>
                  <a:lnTo>
                    <a:pt x="5584580" y="0"/>
                  </a:lnTo>
                  <a:close/>
                </a:path>
              </a:pathLst>
            </a:custGeom>
            <a:solidFill>
              <a:srgbClr val="F8E5E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75044" y="405585"/>
            <a:ext cx="5711825" cy="272542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62865" marR="443230">
              <a:lnSpc>
                <a:spcPct val="102600"/>
              </a:lnSpc>
              <a:spcBef>
                <a:spcPts val="55"/>
              </a:spcBef>
            </a:pPr>
            <a:r>
              <a:rPr dirty="0" sz="1100" spc="-60">
                <a:latin typeface="Tahoma"/>
                <a:cs typeface="Tahoma"/>
              </a:rPr>
              <a:t>In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Q-</a:t>
            </a:r>
            <a:r>
              <a:rPr dirty="0" sz="1100" spc="-35">
                <a:latin typeface="Tahoma"/>
                <a:cs typeface="Tahoma"/>
              </a:rPr>
              <a:t>learning,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95">
                <a:latin typeface="Tahoma"/>
                <a:cs typeface="Tahoma"/>
              </a:rPr>
              <a:t>we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learn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values</a:t>
            </a:r>
            <a:r>
              <a:rPr dirty="0" sz="1100" spc="-40">
                <a:latin typeface="Tahoma"/>
                <a:cs typeface="Tahoma"/>
              </a:rPr>
              <a:t> such </a:t>
            </a:r>
            <a:r>
              <a:rPr dirty="0" sz="1100" spc="-25">
                <a:latin typeface="Tahoma"/>
                <a:cs typeface="Tahoma"/>
              </a:rPr>
              <a:t>as:</a:t>
            </a:r>
            <a:r>
              <a:rPr dirty="0" sz="1100" spc="75">
                <a:latin typeface="Tahoma"/>
                <a:cs typeface="Tahoma"/>
              </a:rPr>
              <a:t> </a:t>
            </a:r>
            <a:r>
              <a:rPr dirty="0" sz="1100" spc="-10" i="1">
                <a:latin typeface="Arial"/>
                <a:cs typeface="Arial"/>
              </a:rPr>
              <a:t>Q</a:t>
            </a:r>
            <a:r>
              <a:rPr dirty="0" sz="1100" spc="-10">
                <a:latin typeface="Tahoma"/>
                <a:cs typeface="Tahoma"/>
              </a:rPr>
              <a:t>(</a:t>
            </a:r>
            <a:r>
              <a:rPr dirty="0" sz="1100" spc="-10" i="1">
                <a:latin typeface="Arial"/>
                <a:cs typeface="Arial"/>
              </a:rPr>
              <a:t>s</a:t>
            </a:r>
            <a:r>
              <a:rPr dirty="0" sz="1100" spc="-10" i="1">
                <a:latin typeface="Calibri"/>
                <a:cs typeface="Calibri"/>
              </a:rPr>
              <a:t>,</a:t>
            </a:r>
            <a:r>
              <a:rPr dirty="0" sz="1100" spc="-70" i="1">
                <a:latin typeface="Calibri"/>
                <a:cs typeface="Calibri"/>
              </a:rPr>
              <a:t> 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>
                <a:latin typeface="Tahoma"/>
                <a:cs typeface="Tahoma"/>
              </a:rPr>
              <a:t>)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expected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long-</a:t>
            </a:r>
            <a:r>
              <a:rPr dirty="0" sz="1100" spc="-25">
                <a:latin typeface="Tahoma"/>
                <a:cs typeface="Tahoma"/>
              </a:rPr>
              <a:t>term</a:t>
            </a:r>
            <a:r>
              <a:rPr dirty="0" sz="1100" spc="-30">
                <a:latin typeface="Tahoma"/>
                <a:cs typeface="Tahoma"/>
              </a:rPr>
              <a:t> return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from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taking action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 spc="-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state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25" i="1">
                <a:latin typeface="Arial"/>
                <a:cs typeface="Arial"/>
              </a:rPr>
              <a:t>s</a:t>
            </a:r>
            <a:r>
              <a:rPr dirty="0" sz="1100" spc="-25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marL="62865" marR="312420">
              <a:lnSpc>
                <a:spcPct val="102600"/>
              </a:lnSpc>
            </a:pPr>
            <a:r>
              <a:rPr dirty="0" sz="1100" spc="-60">
                <a:latin typeface="Tahoma"/>
                <a:cs typeface="Tahoma"/>
              </a:rPr>
              <a:t>In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small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table,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95">
                <a:latin typeface="Tahoma"/>
                <a:cs typeface="Tahoma"/>
              </a:rPr>
              <a:t>we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store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value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for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each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state-</a:t>
            </a:r>
            <a:r>
              <a:rPr dirty="0" sz="1100" spc="-20">
                <a:latin typeface="Tahoma"/>
                <a:cs typeface="Tahoma"/>
              </a:rPr>
              <a:t>action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pair.</a:t>
            </a:r>
            <a:r>
              <a:rPr dirty="0" sz="1100" spc="8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But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what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if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there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are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too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many </a:t>
            </a:r>
            <a:r>
              <a:rPr dirty="0" sz="1100" spc="-10">
                <a:latin typeface="Tahoma"/>
                <a:cs typeface="Tahoma"/>
              </a:rPr>
              <a:t>states?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endParaRPr sz="1100">
              <a:latin typeface="Tahoma"/>
              <a:cs typeface="Tahoma"/>
            </a:endParaRPr>
          </a:p>
          <a:p>
            <a:pPr marL="63500">
              <a:lnSpc>
                <a:spcPct val="100000"/>
              </a:lnSpc>
            </a:pPr>
            <a:r>
              <a:rPr dirty="0" sz="1100" spc="55">
                <a:latin typeface="Tahoma"/>
                <a:cs typeface="Tahoma"/>
              </a:rPr>
              <a:t>A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neural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network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takes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state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s</a:t>
            </a:r>
            <a:r>
              <a:rPr dirty="0" sz="1100" spc="75" i="1">
                <a:latin typeface="Arial"/>
                <a:cs typeface="Arial"/>
              </a:rPr>
              <a:t> </a:t>
            </a:r>
            <a:r>
              <a:rPr dirty="0" sz="1100" spc="-30">
                <a:latin typeface="Tahoma"/>
                <a:cs typeface="Tahoma"/>
              </a:rPr>
              <a:t>as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input</a:t>
            </a:r>
            <a:r>
              <a:rPr dirty="0" sz="1100" spc="-35">
                <a:latin typeface="Tahoma"/>
                <a:cs typeface="Tahoma"/>
              </a:rPr>
              <a:t> and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predicts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Q-</a:t>
            </a:r>
            <a:r>
              <a:rPr dirty="0" sz="1100" spc="-30">
                <a:latin typeface="Tahoma"/>
                <a:cs typeface="Tahoma"/>
              </a:rPr>
              <a:t>values </a:t>
            </a:r>
            <a:r>
              <a:rPr dirty="0" sz="1100" spc="-20">
                <a:latin typeface="Tahoma"/>
                <a:cs typeface="Tahoma"/>
              </a:rPr>
              <a:t>for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possible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actions:</a:t>
            </a:r>
            <a:endParaRPr sz="1100">
              <a:latin typeface="Tahoma"/>
              <a:cs typeface="Tahoma"/>
            </a:endParaRPr>
          </a:p>
          <a:p>
            <a:pPr algn="ctr" marR="93980">
              <a:lnSpc>
                <a:spcPct val="100000"/>
              </a:lnSpc>
              <a:spcBef>
                <a:spcPts val="1135"/>
              </a:spcBef>
            </a:pPr>
            <a:r>
              <a:rPr dirty="0" sz="1100" spc="-10" i="1">
                <a:latin typeface="Arial"/>
                <a:cs typeface="Arial"/>
              </a:rPr>
              <a:t>Q</a:t>
            </a:r>
            <a:r>
              <a:rPr dirty="0" sz="1100" spc="-10">
                <a:latin typeface="Tahoma"/>
                <a:cs typeface="Tahoma"/>
              </a:rPr>
              <a:t>(</a:t>
            </a:r>
            <a:r>
              <a:rPr dirty="0" sz="1100" spc="-10" i="1">
                <a:latin typeface="Arial"/>
                <a:cs typeface="Arial"/>
              </a:rPr>
              <a:t>s</a:t>
            </a:r>
            <a:r>
              <a:rPr dirty="0" sz="1100" spc="-10" i="1">
                <a:latin typeface="Calibri"/>
                <a:cs typeface="Calibri"/>
              </a:rPr>
              <a:t>,</a:t>
            </a:r>
            <a:r>
              <a:rPr dirty="0" sz="1100" spc="-55" i="1">
                <a:latin typeface="Calibri"/>
                <a:cs typeface="Calibri"/>
              </a:rPr>
              <a:t> </a:t>
            </a:r>
            <a:r>
              <a:rPr dirty="0" sz="1100" spc="-50" i="1">
                <a:latin typeface="Arial Narrow"/>
                <a:cs typeface="Arial Narrow"/>
              </a:rPr>
              <a:t>·</a:t>
            </a:r>
            <a:r>
              <a:rPr dirty="0" sz="1100" spc="-50">
                <a:latin typeface="Tahoma"/>
                <a:cs typeface="Tahoma"/>
              </a:rPr>
              <a:t>;</a:t>
            </a:r>
            <a:r>
              <a:rPr dirty="0" sz="1100" spc="-145">
                <a:latin typeface="Tahoma"/>
                <a:cs typeface="Tahoma"/>
              </a:rPr>
              <a:t> </a:t>
            </a:r>
            <a:r>
              <a:rPr dirty="0" sz="1100" spc="-45" i="1">
                <a:latin typeface="Calibri"/>
                <a:cs typeface="Calibri"/>
              </a:rPr>
              <a:t>θ</a:t>
            </a:r>
            <a:r>
              <a:rPr dirty="0" sz="1100" spc="-45">
                <a:latin typeface="Tahoma"/>
                <a:cs typeface="Tahoma"/>
              </a:rPr>
              <a:t>)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[</a:t>
            </a:r>
            <a:r>
              <a:rPr dirty="0" sz="1100" spc="-30" i="1">
                <a:latin typeface="Arial"/>
                <a:cs typeface="Arial"/>
              </a:rPr>
              <a:t>Q</a:t>
            </a:r>
            <a:r>
              <a:rPr dirty="0" sz="1100" spc="-30">
                <a:latin typeface="Tahoma"/>
                <a:cs typeface="Tahoma"/>
              </a:rPr>
              <a:t>(</a:t>
            </a:r>
            <a:r>
              <a:rPr dirty="0" sz="1100" spc="-30" i="1">
                <a:latin typeface="Arial"/>
                <a:cs typeface="Arial"/>
              </a:rPr>
              <a:t>s</a:t>
            </a:r>
            <a:r>
              <a:rPr dirty="0" sz="1100" spc="-30" i="1">
                <a:latin typeface="Calibri"/>
                <a:cs typeface="Calibri"/>
              </a:rPr>
              <a:t>,</a:t>
            </a:r>
            <a:r>
              <a:rPr dirty="0" sz="1100" spc="-55" i="1">
                <a:latin typeface="Calibri"/>
                <a:cs typeface="Calibri"/>
              </a:rPr>
              <a:t> </a:t>
            </a:r>
            <a:r>
              <a:rPr dirty="0" sz="1100" spc="-10" i="1">
                <a:latin typeface="Arial"/>
                <a:cs typeface="Arial"/>
              </a:rPr>
              <a:t>a</a:t>
            </a:r>
            <a:r>
              <a:rPr dirty="0" baseline="-10416" sz="1200" spc="-15">
                <a:latin typeface="Tahoma"/>
                <a:cs typeface="Tahoma"/>
              </a:rPr>
              <a:t>1</a:t>
            </a:r>
            <a:r>
              <a:rPr dirty="0" sz="1100" spc="-10">
                <a:latin typeface="Tahoma"/>
                <a:cs typeface="Tahoma"/>
              </a:rPr>
              <a:t>)</a:t>
            </a:r>
            <a:r>
              <a:rPr dirty="0" sz="1100" spc="-10" i="1">
                <a:latin typeface="Calibri"/>
                <a:cs typeface="Calibri"/>
              </a:rPr>
              <a:t>,</a:t>
            </a:r>
            <a:r>
              <a:rPr dirty="0" sz="1100" spc="-50" i="1">
                <a:latin typeface="Calibri"/>
                <a:cs typeface="Calibri"/>
              </a:rPr>
              <a:t> </a:t>
            </a:r>
            <a:r>
              <a:rPr dirty="0" sz="1100" spc="-10" i="1">
                <a:latin typeface="Arial"/>
                <a:cs typeface="Arial"/>
              </a:rPr>
              <a:t>Q</a:t>
            </a:r>
            <a:r>
              <a:rPr dirty="0" sz="1100" spc="-10">
                <a:latin typeface="Tahoma"/>
                <a:cs typeface="Tahoma"/>
              </a:rPr>
              <a:t>(</a:t>
            </a:r>
            <a:r>
              <a:rPr dirty="0" sz="1100" spc="-10" i="1">
                <a:latin typeface="Arial"/>
                <a:cs typeface="Arial"/>
              </a:rPr>
              <a:t>s</a:t>
            </a:r>
            <a:r>
              <a:rPr dirty="0" sz="1100" spc="-10" i="1">
                <a:latin typeface="Calibri"/>
                <a:cs typeface="Calibri"/>
              </a:rPr>
              <a:t>,</a:t>
            </a:r>
            <a:r>
              <a:rPr dirty="0" sz="1100" spc="-50" i="1">
                <a:latin typeface="Calibri"/>
                <a:cs typeface="Calibri"/>
              </a:rPr>
              <a:t> </a:t>
            </a:r>
            <a:r>
              <a:rPr dirty="0" sz="1100" spc="-10" i="1">
                <a:latin typeface="Arial"/>
                <a:cs typeface="Arial"/>
              </a:rPr>
              <a:t>a</a:t>
            </a:r>
            <a:r>
              <a:rPr dirty="0" baseline="-10416" sz="1200" spc="-15">
                <a:latin typeface="Tahoma"/>
                <a:cs typeface="Tahoma"/>
              </a:rPr>
              <a:t>2</a:t>
            </a:r>
            <a:r>
              <a:rPr dirty="0" sz="1100" spc="-10">
                <a:latin typeface="Tahoma"/>
                <a:cs typeface="Tahoma"/>
              </a:rPr>
              <a:t>)</a:t>
            </a:r>
            <a:r>
              <a:rPr dirty="0" sz="1100" spc="-10" i="1">
                <a:latin typeface="Calibri"/>
                <a:cs typeface="Calibri"/>
              </a:rPr>
              <a:t>,</a:t>
            </a:r>
            <a:r>
              <a:rPr dirty="0" sz="1100" spc="-55" i="1">
                <a:latin typeface="Calibri"/>
                <a:cs typeface="Calibri"/>
              </a:rPr>
              <a:t> </a:t>
            </a:r>
            <a:r>
              <a:rPr dirty="0" sz="1100" i="1">
                <a:latin typeface="Calibri"/>
                <a:cs typeface="Calibri"/>
              </a:rPr>
              <a:t>.</a:t>
            </a:r>
            <a:r>
              <a:rPr dirty="0" sz="1100" spc="-50" i="1">
                <a:latin typeface="Calibri"/>
                <a:cs typeface="Calibri"/>
              </a:rPr>
              <a:t> </a:t>
            </a:r>
            <a:r>
              <a:rPr dirty="0" sz="1100" i="1">
                <a:latin typeface="Calibri"/>
                <a:cs typeface="Calibri"/>
              </a:rPr>
              <a:t>.</a:t>
            </a:r>
            <a:r>
              <a:rPr dirty="0" sz="1100" spc="-50" i="1">
                <a:latin typeface="Calibri"/>
                <a:cs typeface="Calibri"/>
              </a:rPr>
              <a:t> </a:t>
            </a:r>
            <a:r>
              <a:rPr dirty="0" sz="1100" spc="-25" i="1">
                <a:latin typeface="Calibri"/>
                <a:cs typeface="Calibri"/>
              </a:rPr>
              <a:t>.</a:t>
            </a:r>
            <a:r>
              <a:rPr dirty="0" sz="1100" spc="-25">
                <a:latin typeface="Tahoma"/>
                <a:cs typeface="Tahoma"/>
              </a:rPr>
              <a:t>]</a:t>
            </a:r>
            <a:endParaRPr sz="1100">
              <a:latin typeface="Tahoma"/>
              <a:cs typeface="Tahoma"/>
            </a:endParaRPr>
          </a:p>
          <a:p>
            <a:pPr marL="340360">
              <a:lnSpc>
                <a:spcPct val="100000"/>
              </a:lnSpc>
              <a:spcBef>
                <a:spcPts val="1005"/>
              </a:spcBef>
            </a:pPr>
            <a:r>
              <a:rPr dirty="0" sz="1100" spc="-40">
                <a:latin typeface="Tahoma"/>
                <a:cs typeface="Tahoma"/>
              </a:rPr>
              <a:t>Inputs:</a:t>
            </a:r>
            <a:r>
              <a:rPr dirty="0" sz="1100" spc="4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state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features.</a:t>
            </a:r>
            <a:endParaRPr sz="1100">
              <a:latin typeface="Tahoma"/>
              <a:cs typeface="Tahoma"/>
            </a:endParaRPr>
          </a:p>
          <a:p>
            <a:pPr marL="340360">
              <a:lnSpc>
                <a:spcPct val="100000"/>
              </a:lnSpc>
              <a:spcBef>
                <a:spcPts val="35"/>
              </a:spcBef>
            </a:pPr>
            <a:r>
              <a:rPr dirty="0" sz="1100" spc="-20">
                <a:latin typeface="Tahoma"/>
                <a:cs typeface="Tahoma"/>
              </a:rPr>
              <a:t>Outputs:</a:t>
            </a:r>
            <a:r>
              <a:rPr dirty="0" sz="1100" spc="4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estimated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Q-</a:t>
            </a:r>
            <a:r>
              <a:rPr dirty="0" sz="1100" spc="-30">
                <a:latin typeface="Tahoma"/>
                <a:cs typeface="Tahoma"/>
              </a:rPr>
              <a:t>values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(not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class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probabilities).</a:t>
            </a:r>
            <a:endParaRPr sz="1100">
              <a:latin typeface="Tahoma"/>
              <a:cs typeface="Tahoma"/>
            </a:endParaRPr>
          </a:p>
          <a:p>
            <a:pPr marL="340360">
              <a:lnSpc>
                <a:spcPct val="100000"/>
              </a:lnSpc>
              <a:spcBef>
                <a:spcPts val="35"/>
              </a:spcBef>
            </a:pPr>
            <a:r>
              <a:rPr dirty="0" sz="1100" spc="-35">
                <a:latin typeface="Tahoma"/>
                <a:cs typeface="Tahoma"/>
              </a:rPr>
              <a:t>Learning:</a:t>
            </a:r>
            <a:r>
              <a:rPr dirty="0" sz="1100" spc="9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adjust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network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weights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reduce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Q-</a:t>
            </a:r>
            <a:r>
              <a:rPr dirty="0" sz="1100" spc="-55">
                <a:latin typeface="Tahoma"/>
                <a:cs typeface="Tahoma"/>
              </a:rPr>
              <a:t>learning-</a:t>
            </a:r>
            <a:r>
              <a:rPr dirty="0" sz="1100" spc="-45">
                <a:latin typeface="Tahoma"/>
                <a:cs typeface="Tahoma"/>
              </a:rPr>
              <a:t>based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prediction</a:t>
            </a:r>
            <a:r>
              <a:rPr dirty="0" sz="1100" spc="-10">
                <a:latin typeface="Tahoma"/>
                <a:cs typeface="Tahoma"/>
              </a:rPr>
              <a:t> error.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60"/>
              </a:spcBef>
            </a:pPr>
            <a:endParaRPr sz="1100">
              <a:latin typeface="Tahoma"/>
              <a:cs typeface="Tahoma"/>
            </a:endParaRPr>
          </a:p>
          <a:p>
            <a:pPr marL="63500" marR="159385">
              <a:lnSpc>
                <a:spcPct val="102600"/>
              </a:lnSpc>
            </a:pPr>
            <a:r>
              <a:rPr dirty="0" sz="1100" spc="-60">
                <a:latin typeface="Tahoma"/>
                <a:cs typeface="Tahoma"/>
              </a:rPr>
              <a:t>In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logistic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regression,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output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may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mean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probability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Pass.</a:t>
            </a:r>
            <a:r>
              <a:rPr dirty="0" sz="1100" spc="8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In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DQN,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what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does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output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for </a:t>
            </a:r>
            <a:r>
              <a:rPr dirty="0" sz="1100">
                <a:latin typeface="Tahoma"/>
                <a:cs typeface="Tahoma"/>
              </a:rPr>
              <a:t>an</a:t>
            </a:r>
            <a:r>
              <a:rPr dirty="0" sz="1100" spc="-8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action</a:t>
            </a:r>
            <a:r>
              <a:rPr dirty="0" sz="1100" spc="-7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mean?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675"/>
              </a:lnSpc>
            </a:pPr>
            <a:fld id="{81D60167-4931-47E6-BA6A-407CBD079E47}" type="slidenum">
              <a:rPr dirty="0" spc="-10"/>
              <a:t>17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59877"/>
            <a:ext cx="3006090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Exit</a:t>
            </a:r>
            <a:r>
              <a:rPr dirty="0" spc="-25"/>
              <a:t> </a:t>
            </a:r>
            <a:r>
              <a:rPr dirty="0" spc="-10"/>
              <a:t>ticket:</a:t>
            </a:r>
            <a:r>
              <a:rPr dirty="0" spc="120"/>
              <a:t> </a:t>
            </a:r>
            <a:r>
              <a:rPr dirty="0" spc="-35"/>
              <a:t>explain</a:t>
            </a:r>
            <a:r>
              <a:rPr dirty="0" spc="-20"/>
              <a:t> </a:t>
            </a:r>
            <a:r>
              <a:rPr dirty="0"/>
              <a:t>it</a:t>
            </a:r>
            <a:r>
              <a:rPr dirty="0" spc="-20"/>
              <a:t> </a:t>
            </a:r>
            <a:r>
              <a:rPr dirty="0"/>
              <a:t>in</a:t>
            </a:r>
            <a:r>
              <a:rPr dirty="0" spc="-20"/>
              <a:t> </a:t>
            </a:r>
            <a:r>
              <a:rPr dirty="0" spc="-45"/>
              <a:t>your</a:t>
            </a:r>
            <a:r>
              <a:rPr dirty="0" spc="-20"/>
              <a:t> </a:t>
            </a:r>
            <a:r>
              <a:rPr dirty="0" spc="-55"/>
              <a:t>own</a:t>
            </a:r>
            <a:r>
              <a:rPr dirty="0" spc="-25"/>
              <a:t> </a:t>
            </a:r>
            <a:r>
              <a:rPr dirty="0" spc="-55"/>
              <a:t>words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664348"/>
            <a:ext cx="22815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Tahoma"/>
                <a:cs typeface="Tahoma"/>
              </a:rPr>
              <a:t>Before</a:t>
            </a:r>
            <a:r>
              <a:rPr dirty="0" sz="1100" spc="-35">
                <a:latin typeface="Tahoma"/>
                <a:cs typeface="Tahoma"/>
              </a:rPr>
              <a:t> leaving,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70">
                <a:latin typeface="Tahoma"/>
                <a:cs typeface="Tahoma"/>
              </a:rPr>
              <a:t>answer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these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questions: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672" y="928506"/>
            <a:ext cx="114214" cy="11421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51917" y="915573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672" y="1138539"/>
            <a:ext cx="114214" cy="11421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51917" y="1125606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7672" y="1348571"/>
            <a:ext cx="114214" cy="11421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51917" y="1335638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7672" y="1558604"/>
            <a:ext cx="114214" cy="11421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51917" y="1545671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4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7672" y="1768636"/>
            <a:ext cx="114214" cy="11421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251917" y="1755703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endParaRPr sz="6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2932" y="830603"/>
            <a:ext cx="4332605" cy="10756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097405">
              <a:lnSpc>
                <a:spcPct val="125299"/>
              </a:lnSpc>
              <a:spcBef>
                <a:spcPts val="100"/>
              </a:spcBef>
            </a:pPr>
            <a:r>
              <a:rPr dirty="0" sz="1100">
                <a:latin typeface="Tahoma"/>
                <a:cs typeface="Tahoma"/>
              </a:rPr>
              <a:t>What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do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weight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w</a:t>
            </a:r>
            <a:r>
              <a:rPr dirty="0" sz="1100" spc="85" i="1">
                <a:latin typeface="Arial"/>
                <a:cs typeface="Arial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bias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sz="1100" spc="20" i="1">
                <a:latin typeface="Arial"/>
                <a:cs typeface="Arial"/>
              </a:rPr>
              <a:t> </a:t>
            </a:r>
            <a:r>
              <a:rPr dirty="0" sz="1100" spc="-30">
                <a:latin typeface="Tahoma"/>
                <a:cs typeface="Tahoma"/>
              </a:rPr>
              <a:t>do? </a:t>
            </a:r>
            <a:r>
              <a:rPr dirty="0" sz="1100">
                <a:latin typeface="Tahoma"/>
                <a:cs typeface="Tahoma"/>
              </a:rPr>
              <a:t>Why</a:t>
            </a:r>
            <a:r>
              <a:rPr dirty="0" sz="1100" spc="-8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do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95">
                <a:latin typeface="Tahoma"/>
                <a:cs typeface="Tahoma"/>
              </a:rPr>
              <a:t>we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need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loss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function?</a:t>
            </a:r>
            <a:endParaRPr sz="1100">
              <a:latin typeface="Tahoma"/>
              <a:cs typeface="Tahoma"/>
            </a:endParaRPr>
          </a:p>
          <a:p>
            <a:pPr marL="12700" marR="1609090">
              <a:lnSpc>
                <a:spcPct val="125299"/>
              </a:lnSpc>
            </a:pPr>
            <a:r>
              <a:rPr dirty="0" sz="1100">
                <a:latin typeface="Tahoma"/>
                <a:cs typeface="Tahoma"/>
              </a:rPr>
              <a:t>What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does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gradient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descent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change,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why? </a:t>
            </a:r>
            <a:r>
              <a:rPr dirty="0" sz="1100">
                <a:latin typeface="Tahoma"/>
                <a:cs typeface="Tahoma"/>
              </a:rPr>
              <a:t>Why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does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logistic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regression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65">
                <a:latin typeface="Tahoma"/>
                <a:cs typeface="Tahoma"/>
              </a:rPr>
              <a:t>use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sigmoid?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1100">
                <a:latin typeface="Tahoma"/>
                <a:cs typeface="Tahoma"/>
              </a:rPr>
              <a:t>What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will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35">
                <a:latin typeface="Tahoma"/>
                <a:cs typeface="Tahoma"/>
              </a:rPr>
              <a:t> neural </a:t>
            </a:r>
            <a:r>
              <a:rPr dirty="0" sz="1100" spc="-50">
                <a:latin typeface="Tahoma"/>
                <a:cs typeface="Tahoma"/>
              </a:rPr>
              <a:t>network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help </a:t>
            </a:r>
            <a:r>
              <a:rPr dirty="0" sz="1100" spc="-30">
                <a:latin typeface="Tahoma"/>
                <a:cs typeface="Tahoma"/>
              </a:rPr>
              <a:t>us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do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when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35">
                <a:latin typeface="Tahoma"/>
                <a:cs typeface="Tahoma"/>
              </a:rPr>
              <a:t> Q-</a:t>
            </a:r>
            <a:r>
              <a:rPr dirty="0" sz="1100" spc="-10">
                <a:latin typeface="Tahoma"/>
                <a:cs typeface="Tahoma"/>
              </a:rPr>
              <a:t>table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becomes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too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large?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5844" y="2158438"/>
            <a:ext cx="5508625" cy="471805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marL="2530475" marR="5080" indent="-2518410">
              <a:lnSpc>
                <a:spcPct val="106700"/>
              </a:lnSpc>
              <a:spcBef>
                <a:spcPts val="20"/>
              </a:spcBef>
            </a:pPr>
            <a:r>
              <a:rPr dirty="0" sz="1400" b="1">
                <a:latin typeface="Gill Sans MT"/>
                <a:cs typeface="Gill Sans MT"/>
              </a:rPr>
              <a:t>One </a:t>
            </a:r>
            <a:r>
              <a:rPr dirty="0" sz="1400" spc="-35" b="1">
                <a:latin typeface="Gill Sans MT"/>
                <a:cs typeface="Gill Sans MT"/>
              </a:rPr>
              <a:t>common</a:t>
            </a:r>
            <a:r>
              <a:rPr dirty="0" sz="1400" spc="5" b="1">
                <a:latin typeface="Gill Sans MT"/>
                <a:cs typeface="Gill Sans MT"/>
              </a:rPr>
              <a:t> </a:t>
            </a:r>
            <a:r>
              <a:rPr dirty="0" sz="1400" b="1">
                <a:latin typeface="Gill Sans MT"/>
                <a:cs typeface="Gill Sans MT"/>
              </a:rPr>
              <a:t>foundation:</a:t>
            </a:r>
            <a:r>
              <a:rPr dirty="0" sz="1400" spc="150" b="1">
                <a:latin typeface="Gill Sans MT"/>
                <a:cs typeface="Gill Sans MT"/>
              </a:rPr>
              <a:t> </a:t>
            </a:r>
            <a:r>
              <a:rPr dirty="0" sz="1400" spc="-10" b="1">
                <a:latin typeface="Gill Sans MT"/>
                <a:cs typeface="Gill Sans MT"/>
              </a:rPr>
              <a:t>learn</a:t>
            </a:r>
            <a:r>
              <a:rPr dirty="0" sz="1400" spc="5" b="1">
                <a:latin typeface="Gill Sans MT"/>
                <a:cs typeface="Gill Sans MT"/>
              </a:rPr>
              <a:t> </a:t>
            </a:r>
            <a:r>
              <a:rPr dirty="0" sz="1400" spc="-30" b="1">
                <a:latin typeface="Gill Sans MT"/>
                <a:cs typeface="Gill Sans MT"/>
              </a:rPr>
              <a:t>parameters</a:t>
            </a:r>
            <a:r>
              <a:rPr dirty="0" sz="1400" spc="5" b="1">
                <a:latin typeface="Gill Sans MT"/>
                <a:cs typeface="Gill Sans MT"/>
              </a:rPr>
              <a:t> </a:t>
            </a:r>
            <a:r>
              <a:rPr dirty="0" sz="1400" b="1">
                <a:latin typeface="Gill Sans MT"/>
                <a:cs typeface="Gill Sans MT"/>
              </a:rPr>
              <a:t>by reducing</a:t>
            </a:r>
            <a:r>
              <a:rPr dirty="0" sz="1400" spc="5" b="1">
                <a:latin typeface="Gill Sans MT"/>
                <a:cs typeface="Gill Sans MT"/>
              </a:rPr>
              <a:t> </a:t>
            </a:r>
            <a:r>
              <a:rPr dirty="0" sz="1400" spc="-10" b="1">
                <a:latin typeface="Gill Sans MT"/>
                <a:cs typeface="Gill Sans MT"/>
              </a:rPr>
              <a:t>prediction error.</a:t>
            </a:r>
            <a:endParaRPr sz="1400">
              <a:latin typeface="Gill Sans MT"/>
              <a:cs typeface="Gill Sans MT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675"/>
              </a:lnSpc>
            </a:pPr>
            <a:fld id="{81D60167-4931-47E6-BA6A-407CBD079E47}" type="slidenum">
              <a:rPr dirty="0" spc="-10"/>
              <a:t>17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AI – 2nd Year B.Tech</dc:creator>
  <dc:title>Learning from Examples - Linear Regression, Logistic Regression, and the Road to Neural Networks</dc:title>
  <dcterms:created xsi:type="dcterms:W3CDTF">2026-10-15T04:09:13Z</dcterms:created>
  <dcterms:modified xsi:type="dcterms:W3CDTF">2026-10-15T04:09:13Z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2026-10-15T00:00:00Z</vt:filetime>
  </property>
  <property fmtid="{D5CDD505-2E9C-101B-9397-08002B2CF9AE}" pid="4" name="Creator">
    <vt:lpwstr>OpenAI Prism</vt:lpwstr>
  </property>
  <property fmtid="{D5CDD505-2E9C-101B-9397-08002B2CF9AE}" pid="5" name="LastSaved">
    <vt:filetime>2026-10-15T00:00:00Z</vt:filetime>
  </property>
  <property fmtid="{D5CDD505-2E9C-101B-9397-08002B2CF9AE}" pid="6" name="PTEX.Fullbanner">
    <vt:lpwstr>This is pdfTeX, Version 3.141592653-2.6-1.40.28 (TeX Live 2025) kpathsea version 6.4.1</vt:lpwstr>
  </property>
  <property fmtid="{D5CDD505-2E9C-101B-9397-08002B2CF9AE}" pid="7" name="Producer">
    <vt:lpwstr>pdfTeX-1.40.28</vt:lpwstr>
  </property>
</Properties>
</file>